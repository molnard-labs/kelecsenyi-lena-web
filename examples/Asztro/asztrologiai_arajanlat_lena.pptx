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8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9224" y="649224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9224" y="649224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6153912" y="649224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912864" y="649224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9224" y="10040112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49224" y="9281160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153912" y="10040112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912864" y="9281160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617220" y="617220"/>
            <a:ext cx="64008" cy="64008"/>
          </a:xfrm>
          <a:prstGeom prst="diamond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6880860" y="617220"/>
            <a:ext cx="64008" cy="64008"/>
          </a:xfrm>
          <a:prstGeom prst="diamond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iamond 12"/>
          <p:cNvSpPr/>
          <p:nvPr/>
        </p:nvSpPr>
        <p:spPr>
          <a:xfrm>
            <a:off x="617220" y="10008108"/>
            <a:ext cx="64008" cy="64008"/>
          </a:xfrm>
          <a:prstGeom prst="diamond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iamond 13"/>
          <p:cNvSpPr/>
          <p:nvPr/>
        </p:nvSpPr>
        <p:spPr>
          <a:xfrm>
            <a:off x="6880860" y="10008108"/>
            <a:ext cx="64008" cy="64008"/>
          </a:xfrm>
          <a:prstGeom prst="diamond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12364" y="1828800"/>
            <a:ext cx="1737360" cy="1737360"/>
          </a:xfrm>
          <a:prstGeom prst="ellipse">
            <a:avLst/>
          </a:prstGeom>
          <a:noFill/>
          <a:ln w="1016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22676" y="2039112"/>
            <a:ext cx="1316736" cy="1316736"/>
          </a:xfrm>
          <a:prstGeom prst="ellipse">
            <a:avLst/>
          </a:prstGeom>
          <a:noFill/>
          <a:ln w="635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3781044" y="1828800"/>
            <a:ext cx="0" cy="210312"/>
          </a:xfrm>
          <a:prstGeom prst="line">
            <a:avLst/>
          </a:prstGeom>
          <a:ln w="635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110228" y="1945181"/>
            <a:ext cx="105156" cy="182135"/>
          </a:xfrm>
          <a:prstGeom prst="line">
            <a:avLst/>
          </a:prstGeom>
          <a:ln w="635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351207" y="2263140"/>
            <a:ext cx="182135" cy="105156"/>
          </a:xfrm>
          <a:prstGeom prst="line">
            <a:avLst/>
          </a:prstGeom>
          <a:ln w="635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439412" y="2697480"/>
            <a:ext cx="210312" cy="0"/>
          </a:xfrm>
          <a:prstGeom prst="line">
            <a:avLst/>
          </a:prstGeom>
          <a:ln w="635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351207" y="3026664"/>
            <a:ext cx="182135" cy="105156"/>
          </a:xfrm>
          <a:prstGeom prst="line">
            <a:avLst/>
          </a:prstGeom>
          <a:ln w="635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110228" y="3267643"/>
            <a:ext cx="105156" cy="182135"/>
          </a:xfrm>
          <a:prstGeom prst="line">
            <a:avLst/>
          </a:prstGeom>
          <a:ln w="635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781044" y="3355848"/>
            <a:ext cx="0" cy="210312"/>
          </a:xfrm>
          <a:prstGeom prst="line">
            <a:avLst/>
          </a:prstGeom>
          <a:ln w="635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3346704" y="3267643"/>
            <a:ext cx="105156" cy="182135"/>
          </a:xfrm>
          <a:prstGeom prst="line">
            <a:avLst/>
          </a:prstGeom>
          <a:ln w="635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028745" y="3026664"/>
            <a:ext cx="182135" cy="105156"/>
          </a:xfrm>
          <a:prstGeom prst="line">
            <a:avLst/>
          </a:prstGeom>
          <a:ln w="635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912364" y="2697480"/>
            <a:ext cx="210312" cy="0"/>
          </a:xfrm>
          <a:prstGeom prst="line">
            <a:avLst/>
          </a:prstGeom>
          <a:ln w="635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3028745" y="2263140"/>
            <a:ext cx="182135" cy="105156"/>
          </a:xfrm>
          <a:prstGeom prst="line">
            <a:avLst/>
          </a:prstGeom>
          <a:ln w="635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3346703" y="1945181"/>
            <a:ext cx="105156" cy="182135"/>
          </a:xfrm>
          <a:prstGeom prst="line">
            <a:avLst/>
          </a:prstGeom>
          <a:ln w="635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832354" y="181366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8C6A2F"/>
                </a:solidFill>
                <a:latin typeface="Lato"/>
              </a:rPr>
              <a:t>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74632" y="2011283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8C6A2F"/>
                </a:solidFill>
                <a:latin typeface="Lato"/>
              </a:rPr>
              <a:t>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2247" y="2353561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8C6A2F"/>
                </a:solidFill>
                <a:latin typeface="Lato"/>
              </a:rPr>
              <a:t>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2247" y="274879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8C6A2F"/>
                </a:solidFill>
                <a:latin typeface="Lato"/>
              </a:rPr>
              <a:t>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74632" y="309106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8C6A2F"/>
                </a:solidFill>
                <a:latin typeface="Lato"/>
              </a:rPr>
              <a:t>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32354" y="3288683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8C6A2F"/>
                </a:solidFill>
                <a:latin typeface="Lato"/>
              </a:rPr>
              <a:t>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37125" y="3288683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8C6A2F"/>
                </a:solidFill>
                <a:latin typeface="Lato"/>
              </a:rPr>
              <a:t>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94847" y="309106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8C6A2F"/>
                </a:solidFill>
                <a:latin typeface="Lato"/>
              </a:rPr>
              <a:t>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97232" y="274879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8C6A2F"/>
                </a:solidFill>
                <a:latin typeface="Lato"/>
              </a:rPr>
              <a:t>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97232" y="2353561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8C6A2F"/>
                </a:solidFill>
                <a:latin typeface="Lato"/>
              </a:rPr>
              <a:t>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94847" y="2011283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8C6A2F"/>
                </a:solidFill>
                <a:latin typeface="Lato"/>
              </a:rPr>
              <a:t>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37125" y="181366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8C6A2F"/>
                </a:solidFill>
                <a:latin typeface="Lato"/>
              </a:rPr>
              <a:t>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23844" y="2532888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8C6A2F"/>
                </a:solidFill>
                <a:latin typeface="Lato"/>
              </a:rPr>
              <a:t>☉    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4160520"/>
            <a:ext cx="6263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2A2118"/>
                </a:solidFill>
                <a:latin typeface="Merriweather"/>
              </a:rPr>
              <a:t>Spirituális önismereti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" y="4617720"/>
            <a:ext cx="6263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2A2118"/>
                </a:solidFill>
                <a:latin typeface="Merriweather"/>
              </a:rPr>
              <a:t>tanácsadás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" y="5166360"/>
            <a:ext cx="6263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1">
                <a:solidFill>
                  <a:srgbClr val="8C6A2F"/>
                </a:solidFill>
                <a:latin typeface="Merriweather"/>
              </a:rPr>
              <a:t>—  szolgáltatások és árak  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52144" y="5577840"/>
            <a:ext cx="5257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sz="1100" b="0" i="0">
                <a:solidFill>
                  <a:srgbClr val="5A4A3A"/>
                </a:solidFill>
                <a:latin typeface="Merriweather"/>
              </a:rPr>
              <a:t>Asztrológia, kronobiológia és numerológia egy rendszerben — azoknak, akik tudatosan szeretnék megérteni magukat, és innen döntéseket hozni az életükről. Az alábbi dokumentum bemutatja a három elérhető elemzéscsomagot, a folyamatot, és a foglaláshoz szükséges információkat.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683764.0" y="7040880"/>
            <a:ext cx="2194560.0" cy="0"/>
          </a:xfrm>
          <a:prstGeom prst="line">
            <a:avLst/>
          </a:prstGeom>
          <a:ln w="635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683764" y="707745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B8924A"/>
                </a:solidFill>
                <a:latin typeface="Lato"/>
              </a:rPr>
              <a:t>✦  ☉  ☽  ✦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2683764.0" y="7351776"/>
            <a:ext cx="2194560.0" cy="0"/>
          </a:xfrm>
          <a:prstGeom prst="line">
            <a:avLst/>
          </a:prstGeom>
          <a:ln w="635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49224" y="7635240"/>
            <a:ext cx="6263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A2118"/>
                </a:solidFill>
                <a:latin typeface="Merriweather"/>
              </a:rPr>
              <a:t>Kinek szól ez a munka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2144" y="7955279"/>
            <a:ext cx="5257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just">
              <a:lnSpc>
                <a:spcPct val="135000"/>
              </a:lnSpc>
            </a:pPr>
            <a:r>
              <a:rPr sz="1050" b="0" i="0">
                <a:solidFill>
                  <a:srgbClr val="5A4A3A"/>
                </a:solidFill>
                <a:latin typeface="Merriweather"/>
              </a:rPr>
              <a:t>Azoknak, akik szeretnék megérteni saját mintáikat és életsorsukat. Akik egy döntés vagy életszakasz-váltás előtt állnak. Akik kíváncsiak rá, mit mond róluk a születési térképük — akkor is, ha még csak ismerkednek az asztrológiával.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224" y="9144000"/>
            <a:ext cx="6263640" cy="713232"/>
          </a:xfrm>
          <a:prstGeom prst="rect">
            <a:avLst/>
          </a:prstGeom>
          <a:solidFill>
            <a:srgbClr val="EFE3CC"/>
          </a:solidFill>
          <a:ln w="762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" y="9217152"/>
            <a:ext cx="6263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2A2118"/>
                </a:solidFill>
                <a:latin typeface="Merriweather"/>
              </a:rPr>
              <a:t>„Az asztrológia nem megmondja, mit tegyél — megmutatja, ki vagy,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" y="9436608"/>
            <a:ext cx="6263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2A2118"/>
                </a:solidFill>
                <a:latin typeface="Merriweather"/>
              </a:rPr>
              <a:t>és innen már sokkal könnyebb választani.”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" y="9646920"/>
            <a:ext cx="6263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8C6A2F"/>
                </a:solidFill>
                <a:latin typeface="Lato"/>
              </a:rPr>
              <a:t>✦   ✦   ✦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49224" y="9875520"/>
            <a:ext cx="6263640" cy="0"/>
          </a:xfrm>
          <a:prstGeom prst="line">
            <a:avLst/>
          </a:prstGeom>
          <a:ln w="508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49224" y="991209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5A4A3A"/>
                </a:solidFill>
                <a:latin typeface="Lato"/>
              </a:rPr>
              <a:t>Kelecsényi Léna  ·  Spirituális önismereti tanácsadás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23844" y="991209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B8924A"/>
                </a:solidFill>
                <a:latin typeface="Lato"/>
              </a:rPr>
              <a:t>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8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9224" y="649224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9224" y="649224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6153912" y="649224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912864" y="649224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9224" y="10040112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49224" y="9281160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153912" y="10040112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912864" y="9281160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617220" y="617220"/>
            <a:ext cx="64008" cy="64008"/>
          </a:xfrm>
          <a:prstGeom prst="diamond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6880860" y="617220"/>
            <a:ext cx="64008" cy="64008"/>
          </a:xfrm>
          <a:prstGeom prst="diamond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iamond 12"/>
          <p:cNvSpPr/>
          <p:nvPr/>
        </p:nvSpPr>
        <p:spPr>
          <a:xfrm>
            <a:off x="617220" y="10008108"/>
            <a:ext cx="64008" cy="64008"/>
          </a:xfrm>
          <a:prstGeom prst="diamond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iamond 13"/>
          <p:cNvSpPr/>
          <p:nvPr/>
        </p:nvSpPr>
        <p:spPr>
          <a:xfrm>
            <a:off x="6880860" y="10008108"/>
            <a:ext cx="64008" cy="64008"/>
          </a:xfrm>
          <a:prstGeom prst="diamond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694944"/>
            <a:ext cx="6263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A2118"/>
                </a:solidFill>
                <a:latin typeface="Merriweather"/>
              </a:rPr>
              <a:t>Elemzéscsomagok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9224" y="1216152"/>
            <a:ext cx="1005840" cy="0"/>
          </a:xfrm>
          <a:prstGeom prst="line">
            <a:avLst/>
          </a:prstGeom>
          <a:ln w="1778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9224" y="1517904"/>
            <a:ext cx="6263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5A4A3A"/>
                </a:solidFill>
                <a:latin typeface="Merriweather"/>
              </a:rPr>
              <a:t>Egy alkalmas, mély beszélgetés a születési térképed alapján. Asztrológia, kronobiológia és numerológia együtt — válaszd azt a mélységet, ami most a leginkább találó.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" y="2066544"/>
            <a:ext cx="6263640" cy="2212848"/>
          </a:xfrm>
          <a:prstGeom prst="roundRect">
            <a:avLst>
              <a:gd name="adj" fmla="val 4000"/>
            </a:avLst>
          </a:prstGeom>
          <a:solidFill>
            <a:srgbClr val="FBF6EB"/>
          </a:solidFill>
          <a:ln w="889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" y="2066544"/>
            <a:ext cx="6263640" cy="301752"/>
          </a:xfrm>
          <a:prstGeom prst="rect">
            <a:avLst/>
          </a:prstGeom>
          <a:solidFill>
            <a:srgbClr val="A8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2103120"/>
            <a:ext cx="44348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8F1E4"/>
                </a:solidFill>
                <a:latin typeface="Merriweather"/>
              </a:rPr>
              <a:t>Belépőelemzés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2450592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4A3A"/>
                </a:solidFill>
                <a:latin typeface="Lato"/>
              </a:rPr>
              <a:t>1 óra  ·  online vagy személyesen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2432304"/>
            <a:ext cx="59710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A85A4E"/>
                </a:solidFill>
                <a:latin typeface="Merriweather"/>
              </a:rPr>
              <a:t>30 000 Ft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95528" y="2779776"/>
            <a:ext cx="5971032" cy="0"/>
          </a:xfrm>
          <a:prstGeom prst="line">
            <a:avLst/>
          </a:prstGeom>
          <a:ln w="508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95528" y="2834640"/>
            <a:ext cx="59710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4A3A"/>
                </a:solidFill>
                <a:latin typeface="Merriweather"/>
              </a:rPr>
              <a:t>Ha érdekel az asztrológia, de még nem tudod biztosan, hogy való-e neked — itt érdemes kezdeni.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3236976"/>
            <a:ext cx="182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A85A4E"/>
                </a:solidFill>
                <a:latin typeface="Lato"/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3236976"/>
            <a:ext cx="5788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A2118"/>
                </a:solidFill>
                <a:latin typeface="Merriweather"/>
              </a:rPr>
              <a:t>A legfontosabb dolgok 1 órába sűrítve: asztrológia, kronobiológia, numerológia.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3483864"/>
            <a:ext cx="182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A85A4E"/>
                </a:solidFill>
                <a:latin typeface="Lato"/>
              </a:rPr>
              <a:t>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483864"/>
            <a:ext cx="5788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A2118"/>
                </a:solidFill>
                <a:latin typeface="Merriweather"/>
              </a:rPr>
              <a:t>Áttekintő kép a születési térképedről — a leglényegesebb mintákkal.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" y="3730752"/>
            <a:ext cx="182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A85A4E"/>
                </a:solidFill>
                <a:latin typeface="Lato"/>
              </a:rPr>
              <a:t>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" y="3730752"/>
            <a:ext cx="5788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A2118"/>
                </a:solidFill>
                <a:latin typeface="Merriweather"/>
              </a:rPr>
              <a:t>Egy-egy témára nincs lehetőség külön ráfókuszálni — ez egy átfogó pillantás.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" y="3977640"/>
            <a:ext cx="182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A85A4E"/>
                </a:solidFill>
                <a:latin typeface="Lato"/>
              </a:rPr>
              <a:t>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" y="3977640"/>
            <a:ext cx="5788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A2118"/>
                </a:solidFill>
                <a:latin typeface="Merriweather"/>
              </a:rPr>
              <a:t>Ideális első lépés: ha utána mélyebbre mennél, beleszámít a Komplex elemzés árába.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" y="4636008"/>
            <a:ext cx="6263640" cy="2212848"/>
          </a:xfrm>
          <a:prstGeom prst="roundRect">
            <a:avLst>
              <a:gd name="adj" fmla="val 4000"/>
            </a:avLst>
          </a:prstGeom>
          <a:solidFill>
            <a:srgbClr val="FBF6EB"/>
          </a:solidFill>
          <a:ln w="889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9224" y="4636008"/>
            <a:ext cx="6263640" cy="301752"/>
          </a:xfrm>
          <a:prstGeom prst="rect">
            <a:avLst/>
          </a:prstGeom>
          <a:solidFill>
            <a:srgbClr val="3F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" y="4672584"/>
            <a:ext cx="44348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8F1E4"/>
                </a:solidFill>
                <a:latin typeface="Merriweather"/>
              </a:rPr>
              <a:t>Komplex elemzés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24728" y="4700016"/>
            <a:ext cx="960120" cy="182880"/>
          </a:xfrm>
          <a:prstGeom prst="roundRect">
            <a:avLst>
              <a:gd name="adj" fmla="val 40000"/>
            </a:avLst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24728" y="470001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8F1E4"/>
                </a:solidFill>
                <a:latin typeface="Lato"/>
              </a:rPr>
              <a:t>LEGNÉPSZERŰBB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8" y="5020056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4A3A"/>
                </a:solidFill>
                <a:latin typeface="Lato"/>
              </a:rPr>
              <a:t>1,5 óra  ·  online vagy személyesen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" y="5001768"/>
            <a:ext cx="59710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3F6B5C"/>
                </a:solidFill>
                <a:latin typeface="Merriweather"/>
              </a:rPr>
              <a:t>50 000 Ft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95528" y="5349240"/>
            <a:ext cx="5971032" cy="0"/>
          </a:xfrm>
          <a:prstGeom prst="line">
            <a:avLst/>
          </a:prstGeom>
          <a:ln w="508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95528" y="5404104"/>
            <a:ext cx="59710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4A3A"/>
                </a:solidFill>
                <a:latin typeface="Merriweather"/>
              </a:rPr>
              <a:t>A teljes kép — a legtöbben ezt választják. Mélyebb rálátás magadra, plusz ami éppen most körülvesz.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8" y="5806440"/>
            <a:ext cx="182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3F6B5C"/>
                </a:solidFill>
                <a:latin typeface="Lato"/>
              </a:rPr>
              <a:t>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" y="5806440"/>
            <a:ext cx="5788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A2118"/>
                </a:solidFill>
                <a:latin typeface="Merriweather"/>
              </a:rPr>
              <a:t>Mindent tartalmaz, ami a Belépőelemzésben.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8" y="6053328"/>
            <a:ext cx="182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3F6B5C"/>
                </a:solidFill>
                <a:latin typeface="Lato"/>
              </a:rPr>
              <a:t>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" y="6053328"/>
            <a:ext cx="5788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A2118"/>
                </a:solidFill>
                <a:latin typeface="Merriweather"/>
              </a:rPr>
              <a:t>Plusz aktualitások — ami most körülvesz, és egy kis előrejelzés a közeljövőre.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8" y="6300216"/>
            <a:ext cx="182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3F6B5C"/>
                </a:solidFill>
                <a:latin typeface="Lato"/>
              </a:rPr>
              <a:t>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8408" y="6300216"/>
            <a:ext cx="5788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A2118"/>
                </a:solidFill>
                <a:latin typeface="Merriweather"/>
              </a:rPr>
              <a:t>Egy-egy témára van lehetőség külön ráfókuszálni (karrier, kapcsolat, döntés, önismeret).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8" y="6547104"/>
            <a:ext cx="182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3F6B5C"/>
                </a:solidFill>
                <a:latin typeface="Lato"/>
              </a:rPr>
              <a:t>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408" y="6547104"/>
            <a:ext cx="5788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A2118"/>
                </a:solidFill>
                <a:latin typeface="Merriweather"/>
              </a:rPr>
              <a:t>Idő van rá, hogy kérdezz, és egy-egy témát részletesebben kibontsunk.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9224" y="7205472"/>
            <a:ext cx="6263640" cy="2212848"/>
          </a:xfrm>
          <a:prstGeom prst="roundRect">
            <a:avLst>
              <a:gd name="adj" fmla="val 4000"/>
            </a:avLst>
          </a:prstGeom>
          <a:solidFill>
            <a:srgbClr val="FBF6EB"/>
          </a:solidFill>
          <a:ln w="889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9224" y="7205472"/>
            <a:ext cx="6263640" cy="301752"/>
          </a:xfrm>
          <a:prstGeom prst="rect">
            <a:avLst/>
          </a:prstGeom>
          <a:solidFill>
            <a:srgbClr val="9A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5528" y="7242048"/>
            <a:ext cx="44348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8F1E4"/>
                </a:solidFill>
                <a:latin typeface="Merriweather"/>
              </a:rPr>
              <a:t>Komplex elemzés + Éves előrejelzés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8" y="7589520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4A3A"/>
                </a:solidFill>
                <a:latin typeface="Lato"/>
              </a:rPr>
              <a:t>2 óra  ·  online vagy személyesen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5528" y="7571232"/>
            <a:ext cx="59710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1" i="0">
                <a:solidFill>
                  <a:srgbClr val="9A6B1F"/>
                </a:solidFill>
                <a:latin typeface="Merriweather"/>
              </a:rPr>
              <a:t>70 000 Ft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95528" y="7918704"/>
            <a:ext cx="5971032" cy="0"/>
          </a:xfrm>
          <a:prstGeom prst="line">
            <a:avLst/>
          </a:prstGeom>
          <a:ln w="508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95528" y="7973568"/>
            <a:ext cx="59710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4A3A"/>
                </a:solidFill>
                <a:latin typeface="Merriweather"/>
              </a:rPr>
              <a:t>Mindent a Komplex elemzésből, kiegészítve egy részletes, fél–egy éves előrejelzéssel.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5528" y="8375904"/>
            <a:ext cx="182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9A6B1F"/>
                </a:solidFill>
                <a:latin typeface="Lato"/>
              </a:rPr>
              <a:t>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8408" y="8375904"/>
            <a:ext cx="5788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A2118"/>
                </a:solidFill>
                <a:latin typeface="Merriweather"/>
              </a:rPr>
              <a:t>Mindent tartalmaz, ami a Komplex elemzésben.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8" y="8622792"/>
            <a:ext cx="182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9A6B1F"/>
                </a:solidFill>
                <a:latin typeface="Lato"/>
              </a:rPr>
              <a:t>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" y="8622792"/>
            <a:ext cx="5788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A2118"/>
                </a:solidFill>
                <a:latin typeface="Merriweather"/>
              </a:rPr>
              <a:t>Plusz részletes, fél–egy éves előrejelzés: aktuális tranzitok és progressziók.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8" y="8869680"/>
            <a:ext cx="182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9A6B1F"/>
                </a:solidFill>
                <a:latin typeface="Lato"/>
              </a:rPr>
              <a:t>✦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8408" y="8869680"/>
            <a:ext cx="5788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A2118"/>
                </a:solidFill>
                <a:latin typeface="Merriweather"/>
              </a:rPr>
              <a:t>Időbeli térkép: mikor, mire érdemes figyelned a következő hónapokban.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5528" y="9116568"/>
            <a:ext cx="182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9A6B1F"/>
                </a:solidFill>
                <a:latin typeface="Lato"/>
              </a:rPr>
              <a:t>✦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8408" y="9116568"/>
            <a:ext cx="5788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2A2118"/>
                </a:solidFill>
                <a:latin typeface="Merriweather"/>
              </a:rPr>
              <a:t>Ajánlott, ha most nagyobb döntés vagy életszakasz-váltás előtt állsz.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49224" y="9875520"/>
            <a:ext cx="6263640" cy="0"/>
          </a:xfrm>
          <a:prstGeom prst="line">
            <a:avLst/>
          </a:prstGeom>
          <a:ln w="508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49224" y="991209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5A4A3A"/>
                </a:solidFill>
                <a:latin typeface="Lato"/>
              </a:rPr>
              <a:t>Kelecsényi Léna  ·  Spirituális önismereti tanácsadás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23844" y="991209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B8924A"/>
                </a:solidFill>
                <a:latin typeface="Lato"/>
              </a:rPr>
              <a:t>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8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9224" y="649224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9224" y="649224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6153912" y="649224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912864" y="649224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9224" y="10040112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49224" y="9281160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153912" y="10040112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912864" y="9281160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617220" y="617220"/>
            <a:ext cx="64008" cy="64008"/>
          </a:xfrm>
          <a:prstGeom prst="diamond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6880860" y="617220"/>
            <a:ext cx="64008" cy="64008"/>
          </a:xfrm>
          <a:prstGeom prst="diamond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iamond 12"/>
          <p:cNvSpPr/>
          <p:nvPr/>
        </p:nvSpPr>
        <p:spPr>
          <a:xfrm>
            <a:off x="617220" y="10008108"/>
            <a:ext cx="64008" cy="64008"/>
          </a:xfrm>
          <a:prstGeom prst="diamond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iamond 13"/>
          <p:cNvSpPr/>
          <p:nvPr/>
        </p:nvSpPr>
        <p:spPr>
          <a:xfrm>
            <a:off x="6880860" y="10008108"/>
            <a:ext cx="64008" cy="64008"/>
          </a:xfrm>
          <a:prstGeom prst="diamond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694944"/>
            <a:ext cx="6263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A2118"/>
                </a:solidFill>
                <a:latin typeface="Merriweather"/>
              </a:rPr>
              <a:t>Hogyan dolgozunk együtt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9224" y="1216152"/>
            <a:ext cx="1005840" cy="0"/>
          </a:xfrm>
          <a:prstGeom prst="line">
            <a:avLst/>
          </a:prstGeom>
          <a:ln w="1778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49224" y="1609344"/>
            <a:ext cx="292608" cy="292608"/>
          </a:xfrm>
          <a:prstGeom prst="ellipse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160934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8F1E4"/>
                </a:solidFill>
                <a:latin typeface="Merriweather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" y="159105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A2118"/>
                </a:solidFill>
                <a:latin typeface="Merriweather"/>
              </a:rPr>
              <a:t>Jelentkezés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1837944"/>
            <a:ext cx="5852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4A3A"/>
                </a:solidFill>
                <a:latin typeface="Merriweather"/>
              </a:rPr>
              <a:t>Egy rövid kérdőívvel kezdünk — születési adatok (dátum, idő, hely) és néhány kérdés arról, hogy most mi foglalkoztat. Ebből készülök fel.</a:t>
            </a:r>
          </a:p>
        </p:txBody>
      </p:sp>
      <p:sp>
        <p:nvSpPr>
          <p:cNvPr id="21" name="Oval 20"/>
          <p:cNvSpPr/>
          <p:nvPr/>
        </p:nvSpPr>
        <p:spPr>
          <a:xfrm>
            <a:off x="649224" y="2587752"/>
            <a:ext cx="292608" cy="292608"/>
          </a:xfrm>
          <a:prstGeom prst="ellipse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258775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8F1E4"/>
                </a:solidFill>
                <a:latin typeface="Merriweather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" y="2569464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A2118"/>
                </a:solidFill>
                <a:latin typeface="Merriweather"/>
              </a:rPr>
              <a:t>Időpont egyeztetés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2816352"/>
            <a:ext cx="5852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4A3A"/>
                </a:solidFill>
                <a:latin typeface="Merriweather"/>
              </a:rPr>
              <a:t>Online (Zoom / Google Meet) vagy személyes találkozó — ahogy neked kényelmesebb. A foglalás a teljes díj kifizetésével válik véglegessé.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" y="3566160"/>
            <a:ext cx="292608" cy="292608"/>
          </a:xfrm>
          <a:prstGeom prst="ellipse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356616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8F1E4"/>
                </a:solidFill>
                <a:latin typeface="Merriweather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3547872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A2118"/>
                </a:solidFill>
                <a:latin typeface="Merriweather"/>
              </a:rPr>
              <a:t>A találkozás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" y="3794760"/>
            <a:ext cx="5852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4A3A"/>
                </a:solidFill>
                <a:latin typeface="Merriweather"/>
              </a:rPr>
              <a:t>Párbeszédes forma. Nem előadok, hanem együtt nézzük a térképet. Bármikor kérdezhetsz, megállíthatsz, mélyebbre mehetünk egy témában — ahol a Komplex és a Komplex + Éves csomag erre időt is hagy.</a:t>
            </a:r>
          </a:p>
        </p:txBody>
      </p:sp>
      <p:sp>
        <p:nvSpPr>
          <p:cNvPr id="29" name="Oval 28"/>
          <p:cNvSpPr/>
          <p:nvPr/>
        </p:nvSpPr>
        <p:spPr>
          <a:xfrm>
            <a:off x="649224" y="4544568"/>
            <a:ext cx="292608" cy="292608"/>
          </a:xfrm>
          <a:prstGeom prst="ellipse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" y="454456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8F1E4"/>
                </a:solidFill>
                <a:latin typeface="Merriweather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" y="452628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A2118"/>
                </a:solidFill>
                <a:latin typeface="Merriweather"/>
              </a:rPr>
              <a:t>Utánkövetés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" y="4773168"/>
            <a:ext cx="5852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4A3A"/>
                </a:solidFill>
                <a:latin typeface="Merriweather"/>
              </a:rPr>
              <a:t>A találkozás után még napokig forrnak az új meglátások — ha kérdés merül fel, egy rövid e-mailes egyeztetésre van mód. Írásos összefoglalót nem készítek; ami elhangzik, azzal te dolgozol tovább.</a:t>
            </a:r>
          </a:p>
        </p:txBody>
      </p:sp>
      <p:sp>
        <p:nvSpPr>
          <p:cNvPr id="33" name="Oval 32"/>
          <p:cNvSpPr/>
          <p:nvPr/>
        </p:nvSpPr>
        <p:spPr>
          <a:xfrm>
            <a:off x="649224" y="5522976"/>
            <a:ext cx="292608" cy="292608"/>
          </a:xfrm>
          <a:prstGeom prst="ellipse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" y="552297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8F1E4"/>
                </a:solidFill>
                <a:latin typeface="Merriweather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" y="5504688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A2118"/>
                </a:solidFill>
                <a:latin typeface="Merriweather"/>
              </a:rPr>
              <a:t>Folytatás (ha jólesik)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" y="5751576"/>
            <a:ext cx="5852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4A3A"/>
                </a:solidFill>
                <a:latin typeface="Merriweather"/>
              </a:rPr>
              <a:t>Ha a Belépőelemzés után mélyebbre mennél, az ára beleszámít a Komplex elemzés díjába. Ha most a Komplexet választod, később kiegészítheted az Éves előrejelzéssel — neked való ritmusban.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" y="654710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8C6A2F"/>
                </a:solidFill>
                <a:latin typeface="Merriweather"/>
              </a:rPr>
              <a:t>Jó tudni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49224" y="6821424"/>
            <a:ext cx="502920" cy="0"/>
          </a:xfrm>
          <a:prstGeom prst="line">
            <a:avLst/>
          </a:prstGeom>
          <a:ln w="762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49224" y="6912864"/>
            <a:ext cx="6263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C6A2F"/>
                </a:solidFill>
                <a:latin typeface="Merriweather"/>
              </a:rPr>
              <a:t>Mi kell a foglaláshoz?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" y="7114032"/>
            <a:ext cx="6263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2A2118"/>
                </a:solidFill>
                <a:latin typeface="Merriweather"/>
              </a:rPr>
              <a:t>Pontos születési dátum, idő (perc pontosság ideális) és hely.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" y="7498080"/>
            <a:ext cx="6263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C6A2F"/>
                </a:solidFill>
                <a:latin typeface="Merriweather"/>
              </a:rPr>
              <a:t>Kapok írásos összefoglalót?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" y="7699248"/>
            <a:ext cx="6263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2A2118"/>
                </a:solidFill>
                <a:latin typeface="Merriweather"/>
              </a:rPr>
              <a:t>Nem — írásos anyagot nem készítek. A beszélgetés végén érdemes magadnak jegyzetelned vagy engedélyemmel hangrögzítést készítened.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" y="8083296"/>
            <a:ext cx="6263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C6A2F"/>
                </a:solidFill>
                <a:latin typeface="Merriweather"/>
              </a:rPr>
              <a:t>Lemondás, halasztás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" y="8284464"/>
            <a:ext cx="6263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2A2118"/>
                </a:solidFill>
                <a:latin typeface="Merriweather"/>
              </a:rPr>
              <a:t>48 órán belüli lemondás esetén a díj 50%-a kerül felszámolásra; ennél korábban díjmentes átütemezés.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49224" y="9875520"/>
            <a:ext cx="6263640" cy="0"/>
          </a:xfrm>
          <a:prstGeom prst="line">
            <a:avLst/>
          </a:prstGeom>
          <a:ln w="508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49224" y="991209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5A4A3A"/>
                </a:solidFill>
                <a:latin typeface="Lato"/>
              </a:rPr>
              <a:t>Kelecsényi Léna  ·  Spirituális önismereti tanácsadás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23844" y="991209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B8924A"/>
                </a:solidFill>
                <a:latin typeface="Lato"/>
              </a:rPr>
              <a:t>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8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9224" y="649224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9224" y="649224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6153912" y="649224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912864" y="649224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9224" y="10040112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49224" y="9281160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153912" y="10040112"/>
            <a:ext cx="758952" cy="0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912864" y="9281160"/>
            <a:ext cx="0" cy="758952"/>
          </a:xfrm>
          <a:prstGeom prst="line">
            <a:avLst/>
          </a:prstGeom>
          <a:ln w="889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617220" y="617220"/>
            <a:ext cx="64008" cy="64008"/>
          </a:xfrm>
          <a:prstGeom prst="diamond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6880860" y="617220"/>
            <a:ext cx="64008" cy="64008"/>
          </a:xfrm>
          <a:prstGeom prst="diamond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iamond 12"/>
          <p:cNvSpPr/>
          <p:nvPr/>
        </p:nvSpPr>
        <p:spPr>
          <a:xfrm>
            <a:off x="617220" y="10008108"/>
            <a:ext cx="64008" cy="64008"/>
          </a:xfrm>
          <a:prstGeom prst="diamond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iamond 13"/>
          <p:cNvSpPr/>
          <p:nvPr/>
        </p:nvSpPr>
        <p:spPr>
          <a:xfrm>
            <a:off x="6880860" y="10008108"/>
            <a:ext cx="64008" cy="64008"/>
          </a:xfrm>
          <a:prstGeom prst="diamond">
            <a:avLst/>
          </a:prstGeom>
          <a:solidFill>
            <a:srgbClr val="B89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694944"/>
            <a:ext cx="6263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A2118"/>
                </a:solidFill>
                <a:latin typeface="Merriweather"/>
              </a:rPr>
              <a:t>Foglalás és kapcsolat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9224" y="1216152"/>
            <a:ext cx="1005840" cy="0"/>
          </a:xfrm>
          <a:prstGeom prst="line">
            <a:avLst/>
          </a:prstGeom>
          <a:ln w="1778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9224" y="1517904"/>
            <a:ext cx="6263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5A4A3A"/>
                </a:solidFill>
                <a:latin typeface="Merriweather"/>
              </a:rPr>
              <a:t>Ha úgy érzed, valamelyik csomag rólad szól — vagy bizonytalan vagy abban, hogy melyik a legjobb most számodra — írj nekem bátran. Néhány mondatból már látom, mi az, ami a leginkább szolgálna téged.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2340864"/>
            <a:ext cx="6263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B8924A"/>
                </a:solidFill>
                <a:latin typeface="Lato"/>
              </a:rPr>
              <a:t>✦  ☉  ☽  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2706624"/>
            <a:ext cx="6263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A2118"/>
                </a:solidFill>
                <a:latin typeface="Merriweather"/>
              </a:rPr>
              <a:t>Készen állsz az első találkozásra?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" y="3118104"/>
            <a:ext cx="6263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5A4A3A"/>
                </a:solidFill>
                <a:latin typeface="Merriweather"/>
              </a:rPr>
              <a:t>Az alábbi elérhetőségek bármelyikén megtalálsz.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" y="3712464"/>
            <a:ext cx="6263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2A2118"/>
                </a:solidFill>
                <a:latin typeface="Merriweather"/>
              </a:rPr>
              <a:t>Mit érdemes belefoglalni az első üzenetbe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078224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8924A"/>
                </a:solidFill>
                <a:latin typeface="Lato"/>
              </a:rPr>
              <a:t>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" y="4078224"/>
            <a:ext cx="5897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4A3A"/>
                </a:solidFill>
                <a:latin typeface="Merriweather"/>
              </a:rPr>
              <a:t>Születési adatok — dátum, óra–perc pontosság ideális, és a születés helye (város).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4535424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8924A"/>
                </a:solidFill>
                <a:latin typeface="Lato"/>
              </a:rPr>
              <a:t>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" y="4535424"/>
            <a:ext cx="5897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4A3A"/>
                </a:solidFill>
                <a:latin typeface="Merriweather"/>
              </a:rPr>
              <a:t>Melyik csomag szólított meg — Belépőelemzés, Komplex elemzés, vagy Komplex + Éves előrejelzés — illetve ha még bizonytalan vagy, írd nyugodtan azt is.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4992624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8924A"/>
                </a:solidFill>
                <a:latin typeface="Lato"/>
              </a:rPr>
              <a:t>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" y="4992624"/>
            <a:ext cx="5897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4A3A"/>
                </a:solidFill>
                <a:latin typeface="Merriweather"/>
              </a:rPr>
              <a:t>Mi foglalkoztat most — 1–2 mondatban: egy döntés, egy életszakasz, egy téma — bármi, amire most rálátást szeretnél.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5449824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8924A"/>
                </a:solidFill>
                <a:latin typeface="Lato"/>
              </a:rPr>
              <a:t>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" y="5449824"/>
            <a:ext cx="5897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4A3A"/>
                </a:solidFill>
                <a:latin typeface="Merriweather"/>
              </a:rPr>
              <a:t>Mikor érnél rá — néhány lehetséges időablak (hétköznap / hétvége, délelőtt / este), és hogy online vagy személyes alkalmat szeretnél-e.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" y="7936992"/>
            <a:ext cx="6263640" cy="1691640"/>
          </a:xfrm>
          <a:prstGeom prst="roundRect">
            <a:avLst>
              <a:gd name="adj" fmla="val 5000"/>
            </a:avLst>
          </a:prstGeom>
          <a:solidFill>
            <a:srgbClr val="EFE3CC"/>
          </a:solidFill>
          <a:ln w="10160">
            <a:solidFill>
              <a:srgbClr val="B89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" y="8046720"/>
            <a:ext cx="6263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8C6A2F"/>
                </a:solidFill>
                <a:latin typeface="Lato"/>
              </a:rPr>
              <a:t>KAPCSOLAT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14984" y="8302752"/>
            <a:ext cx="5532120" cy="0"/>
          </a:xfrm>
          <a:prstGeom prst="line">
            <a:avLst/>
          </a:prstGeom>
          <a:ln w="508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9224" y="8348472"/>
            <a:ext cx="6263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A2118"/>
                </a:solidFill>
                <a:latin typeface="Merriweather"/>
              </a:rPr>
              <a:t>Kelecsényi Léna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" y="8805672"/>
            <a:ext cx="2087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8C6A2F"/>
                </a:solidFill>
                <a:latin typeface="Lato"/>
              </a:rPr>
              <a:t>E-MAIL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" y="9006840"/>
            <a:ext cx="2087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2A2118"/>
                </a:solidFill>
                <a:latin typeface="Merriweather"/>
              </a:rPr>
              <a:t>kelecsenyi.lena@gmail.com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37104" y="8805672"/>
            <a:ext cx="2087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8C6A2F"/>
                </a:solidFill>
                <a:latin typeface="Lato"/>
              </a:rPr>
              <a:t>TELEFON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37104" y="9006840"/>
            <a:ext cx="2087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2A2118"/>
                </a:solidFill>
                <a:latin typeface="Merriweather"/>
              </a:rPr>
              <a:t>+36 70 425 6216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24984" y="8805672"/>
            <a:ext cx="2087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8C6A2F"/>
                </a:solidFill>
                <a:latin typeface="Lato"/>
              </a:rPr>
              <a:t>INSTAGRAM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24984" y="9006840"/>
            <a:ext cx="2087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2A2118"/>
                </a:solidFill>
                <a:latin typeface="Merriweather"/>
              </a:rPr>
              <a:t>@lena.kelecsenyi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" y="9244584"/>
            <a:ext cx="6263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B8924A"/>
                </a:solidFill>
                <a:latin typeface="Lato"/>
              </a:rPr>
              <a:t>✦  ✦  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" y="9427464"/>
            <a:ext cx="6263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5A4A3A"/>
                </a:solidFill>
                <a:latin typeface="Merriweather"/>
              </a:rPr>
              <a:t>Köszönöm, hogy időt szántál erre — várom az üzeneted.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49224" y="9875520"/>
            <a:ext cx="6263640" cy="0"/>
          </a:xfrm>
          <a:prstGeom prst="line">
            <a:avLst/>
          </a:prstGeom>
          <a:ln w="5080">
            <a:solidFill>
              <a:srgbClr val="B89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49224" y="991209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5A4A3A"/>
                </a:solidFill>
                <a:latin typeface="Lato"/>
              </a:rPr>
              <a:t>Kelecsényi Léna  ·  Spirituális önismereti tanácsadás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23844" y="991209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B8924A"/>
                </a:solidFill>
                <a:latin typeface="Lato"/>
              </a:rPr>
              <a:t>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
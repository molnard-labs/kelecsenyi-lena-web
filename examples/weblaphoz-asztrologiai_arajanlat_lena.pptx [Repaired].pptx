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23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" y="-178308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12364" y="1828800"/>
            <a:ext cx="1737360" cy="1737360"/>
          </a:xfrm>
          <a:prstGeom prst="ellipse">
            <a:avLst/>
          </a:prstGeom>
          <a:noFill/>
          <a:ln w="1016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22676" y="2039112"/>
            <a:ext cx="1316736" cy="1316736"/>
          </a:xfrm>
          <a:prstGeom prst="ellipse">
            <a:avLst/>
          </a:prstGeom>
          <a:noFill/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V="1">
            <a:off x="3781044" y="1828800"/>
            <a:ext cx="0" cy="210312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10228" y="1945181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351207" y="2263140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39412" y="2697480"/>
            <a:ext cx="210312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1207" y="3026664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0228" y="3267643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81044" y="3355848"/>
            <a:ext cx="0" cy="210312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346704" y="3267643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28745" y="3026664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12364" y="2697480"/>
            <a:ext cx="210312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028745" y="2263140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346703" y="1945181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72247" y="274879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4632" y="30910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dirty="0">
                <a:solidFill>
                  <a:srgbClr val="8C6A2F"/>
                </a:solidFill>
                <a:latin typeface="Lato"/>
              </a:rPr>
              <a:t>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2354" y="328868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7125" y="328868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4847" y="30910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7232" y="274879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7232" y="2353561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3844" y="2552184"/>
            <a:ext cx="914400" cy="290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 dirty="0">
                <a:solidFill>
                  <a:srgbClr val="8C6A2F"/>
                </a:solidFill>
                <a:latin typeface="Lato"/>
              </a:rPr>
              <a:t>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192" y="3694240"/>
            <a:ext cx="6263640" cy="152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 dirty="0" err="1">
                <a:solidFill>
                  <a:srgbClr val="2A2118"/>
                </a:solidFill>
                <a:latin typeface="Merriweather"/>
              </a:rPr>
              <a:t>Spirituális</a:t>
            </a:r>
            <a:r>
              <a:rPr sz="20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2000" b="1" i="0" dirty="0" err="1">
                <a:solidFill>
                  <a:srgbClr val="2A2118"/>
                </a:solidFill>
                <a:latin typeface="Merriweather"/>
              </a:rPr>
              <a:t>önismereti</a:t>
            </a:r>
            <a:r>
              <a:rPr lang="hu-HU" sz="20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lang="hu-HU" sz="2000" b="1" dirty="0">
                <a:solidFill>
                  <a:srgbClr val="2A2118"/>
                </a:solidFill>
                <a:latin typeface="Merriweather"/>
              </a:rPr>
              <a:t>t</a:t>
            </a:r>
            <a:r>
              <a:rPr lang="hu-HU" sz="2000" b="1" i="0" dirty="0">
                <a:solidFill>
                  <a:srgbClr val="2A2118"/>
                </a:solidFill>
                <a:latin typeface="Merriweather"/>
              </a:rPr>
              <a:t>anácsadás</a:t>
            </a:r>
            <a:endParaRPr lang="hu-HU" sz="2400" b="1" dirty="0">
              <a:solidFill>
                <a:srgbClr val="2A2118"/>
              </a:solidFill>
              <a:latin typeface="Merriweather"/>
            </a:endParaRPr>
          </a:p>
          <a:p>
            <a:pPr algn="ctr">
              <a:lnSpc>
                <a:spcPct val="115000"/>
              </a:lnSpc>
            </a:pPr>
            <a:endParaRPr lang="hu-HU" sz="2000" dirty="0">
              <a:solidFill>
                <a:srgbClr val="2A2118"/>
              </a:solidFill>
              <a:latin typeface="Merriweather"/>
            </a:endParaRPr>
          </a:p>
          <a:p>
            <a:pPr algn="ctr">
              <a:lnSpc>
                <a:spcPct val="115000"/>
              </a:lnSpc>
            </a:pPr>
            <a:r>
              <a:rPr lang="hu-HU" sz="2000" i="1" dirty="0">
                <a:solidFill>
                  <a:srgbClr val="2A2118"/>
                </a:solidFill>
                <a:latin typeface="Merriweather"/>
              </a:rPr>
              <a:t>Kelecsényi</a:t>
            </a:r>
            <a:r>
              <a:rPr lang="hu-HU" sz="2000" b="1" i="1" dirty="0">
                <a:solidFill>
                  <a:srgbClr val="2A2118"/>
                </a:solidFill>
                <a:latin typeface="Merriweather"/>
              </a:rPr>
              <a:t> </a:t>
            </a:r>
            <a:r>
              <a:rPr lang="hu-HU" sz="2000" i="1" dirty="0">
                <a:solidFill>
                  <a:srgbClr val="2A2118"/>
                </a:solidFill>
                <a:latin typeface="Merriweather"/>
              </a:rPr>
              <a:t>Léna</a:t>
            </a:r>
          </a:p>
          <a:p>
            <a:pPr algn="ctr">
              <a:lnSpc>
                <a:spcPct val="115000"/>
              </a:lnSpc>
            </a:pPr>
            <a:endParaRPr lang="hu-HU" sz="28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" y="5232891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 dirty="0">
                <a:solidFill>
                  <a:srgbClr val="8C6A2F"/>
                </a:solidFill>
                <a:latin typeface="Merriweather"/>
              </a:rPr>
              <a:t>—  </a:t>
            </a:r>
            <a:r>
              <a:rPr sz="1500" b="0" i="1" dirty="0" err="1">
                <a:solidFill>
                  <a:srgbClr val="8C6A2F"/>
                </a:solidFill>
                <a:latin typeface="Merriweather"/>
              </a:rPr>
              <a:t>szolgáltatások</a:t>
            </a:r>
            <a:r>
              <a:rPr sz="1500" b="0" i="1" dirty="0">
                <a:solidFill>
                  <a:srgbClr val="8C6A2F"/>
                </a:solidFill>
                <a:latin typeface="Merriweather"/>
              </a:rPr>
              <a:t> </a:t>
            </a:r>
            <a:r>
              <a:rPr sz="1500" b="0" i="1" dirty="0" err="1">
                <a:solidFill>
                  <a:srgbClr val="8C6A2F"/>
                </a:solidFill>
                <a:latin typeface="Merriweather"/>
              </a:rPr>
              <a:t>és</a:t>
            </a:r>
            <a:r>
              <a:rPr sz="1500" b="0" i="1" dirty="0">
                <a:solidFill>
                  <a:srgbClr val="8C6A2F"/>
                </a:solidFill>
                <a:latin typeface="Merriweather"/>
              </a:rPr>
              <a:t> </a:t>
            </a:r>
            <a:r>
              <a:rPr sz="1500" b="0" i="1" dirty="0" err="1">
                <a:solidFill>
                  <a:srgbClr val="8C6A2F"/>
                </a:solidFill>
                <a:latin typeface="Merriweather"/>
              </a:rPr>
              <a:t>árak</a:t>
            </a:r>
            <a:r>
              <a:rPr sz="1500" b="0" i="1" dirty="0">
                <a:solidFill>
                  <a:srgbClr val="8C6A2F"/>
                </a:solidFill>
                <a:latin typeface="Merriweather"/>
              </a:rPr>
              <a:t>  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486" y="5643848"/>
            <a:ext cx="5507736" cy="1162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Asztrológia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kronobiológia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numerológia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rendszerben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-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azoknak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akik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tudatosan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szeretnék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megérteni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magukat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innen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döntéseket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hozni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az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életükről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. Az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alábbi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dokumentum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bemutatja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a</a:t>
            </a:r>
            <a:r>
              <a:rPr lang="hu-HU" sz="1100" b="0" i="0" dirty="0">
                <a:solidFill>
                  <a:srgbClr val="5A4A3A"/>
                </a:solidFill>
                <a:latin typeface="Merriweather"/>
              </a:rPr>
              <a:t>z alkalmazott módszereket, az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elérhető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elemzés</a:t>
            </a:r>
            <a:r>
              <a:rPr lang="hu-HU" sz="1100" b="0" i="0" dirty="0">
                <a:solidFill>
                  <a:srgbClr val="5A4A3A"/>
                </a:solidFill>
                <a:latin typeface="Merriweather"/>
              </a:rPr>
              <a:t>ajánlatokat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a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folyamatot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a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foglaláshoz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szükséges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információkat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és egy rövid bemutatkozó szöveget.</a:t>
            </a:r>
            <a:endParaRPr sz="1100" b="0" i="0" dirty="0">
              <a:solidFill>
                <a:srgbClr val="5A4A3A"/>
              </a:solidFill>
              <a:latin typeface="Merriweather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0" y="7040880"/>
            <a:ext cx="0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83764" y="713130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dirty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0" y="7351776"/>
            <a:ext cx="0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9224" y="7635240"/>
            <a:ext cx="6263640" cy="2160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dirty="0" err="1">
                <a:solidFill>
                  <a:srgbClr val="2A2118"/>
                </a:solidFill>
                <a:latin typeface="Merriweather"/>
              </a:rPr>
              <a:t>Kinek</a:t>
            </a:r>
            <a:r>
              <a:rPr sz="13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300" b="1" i="0" dirty="0" err="1">
                <a:solidFill>
                  <a:srgbClr val="2A2118"/>
                </a:solidFill>
                <a:latin typeface="Merriweather"/>
              </a:rPr>
              <a:t>szól</a:t>
            </a:r>
            <a:r>
              <a:rPr sz="1300" b="1" i="0" dirty="0">
                <a:solidFill>
                  <a:srgbClr val="2A2118"/>
                </a:solidFill>
                <a:latin typeface="Merriweather"/>
              </a:rPr>
              <a:t> a </a:t>
            </a:r>
            <a:r>
              <a:rPr lang="hu-HU" sz="1300" b="1" i="0" dirty="0">
                <a:solidFill>
                  <a:srgbClr val="2A2118"/>
                </a:solidFill>
                <a:latin typeface="Merriweather"/>
              </a:rPr>
              <a:t>tanácsadás</a:t>
            </a:r>
            <a:endParaRPr sz="13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28700" y="7966067"/>
            <a:ext cx="5507736" cy="893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Azoknak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akik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szeretnék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megérteni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saját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100" b="0" i="0" dirty="0">
                <a:solidFill>
                  <a:srgbClr val="5A4A3A"/>
                </a:solidFill>
                <a:latin typeface="Merriweather"/>
              </a:rPr>
              <a:t>működési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mintá</a:t>
            </a:r>
            <a:r>
              <a:rPr lang="hu-HU" sz="1100" b="0" i="0" dirty="0" err="1">
                <a:solidFill>
                  <a:srgbClr val="5A4A3A"/>
                </a:solidFill>
                <a:latin typeface="Merriweather"/>
              </a:rPr>
              <a:t>zatuka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t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életsorsukat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.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Akik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döntés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vagy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életszakasz</a:t>
            </a:r>
            <a:r>
              <a:rPr lang="hu-HU" sz="11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váltás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előtt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állnak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.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Akik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kíváncsiak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rá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mit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mond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róluk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a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születési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térképük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1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akkor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is, ha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még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csak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ismerkednek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az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0" dirty="0" err="1">
                <a:solidFill>
                  <a:srgbClr val="5A4A3A"/>
                </a:solidFill>
                <a:latin typeface="Merriweather"/>
              </a:rPr>
              <a:t>asztrológiával</a:t>
            </a:r>
            <a:r>
              <a:rPr sz="1100" b="0" i="0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" y="9240012"/>
            <a:ext cx="6263640" cy="617220"/>
          </a:xfrm>
          <a:prstGeom prst="rect">
            <a:avLst/>
          </a:prstGeom>
          <a:solidFill>
            <a:srgbClr val="EFE3CC"/>
          </a:solidFill>
          <a:ln w="762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3222" y="9296222"/>
            <a:ext cx="6263640" cy="360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hu-HU" sz="1050" i="1" dirty="0">
                <a:solidFill>
                  <a:srgbClr val="2A2118"/>
                </a:solidFill>
                <a:latin typeface="Merriweather"/>
              </a:rPr>
              <a:t>Egy komplex és mély önismereti módszer, ami segít tisztábban látni, és közelebb visz a saját utadhoz, beleszeretni képletedbe és életedbe.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" y="964692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 dirty="0">
                <a:solidFill>
                  <a:srgbClr val="8C6A2F"/>
                </a:solidFill>
                <a:latin typeface="Lato"/>
              </a:rPr>
              <a:t>✦   ✦   ✦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5A4A3A"/>
                </a:solidFill>
                <a:latin typeface="Lato"/>
              </a:rPr>
              <a:t>Kelecsényi Léna  · 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Spirituális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önismereti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tanácsadás</a:t>
            </a:r>
            <a:endParaRPr sz="800" b="0" i="0" dirty="0">
              <a:solidFill>
                <a:srgbClr val="5A4A3A"/>
              </a:solidFill>
              <a:latin typeface="Lato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pic>
        <p:nvPicPr>
          <p:cNvPr id="63" name="Kép 62">
            <a:extLst>
              <a:ext uri="{FF2B5EF4-FFF2-40B4-BE49-F238E27FC236}">
                <a16:creationId xmlns:a16="http://schemas.microsoft.com/office/drawing/2014/main" id="{DA742598-EE33-ED68-31C2-7986CAE2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30" y="153277"/>
            <a:ext cx="4172164" cy="35688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BAAEC3-CC06-59F8-4BFA-053ADB4D605F}"/>
              </a:ext>
            </a:extLst>
          </p:cNvPr>
          <p:cNvSpPr/>
          <p:nvPr/>
        </p:nvSpPr>
        <p:spPr>
          <a:xfrm>
            <a:off x="762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endParaRPr lang="hu-HU" sz="1400" b="0" i="0" dirty="0">
              <a:solidFill>
                <a:srgbClr val="B8924A"/>
              </a:solidFill>
              <a:latin typeface="Lato"/>
            </a:endParaRPr>
          </a:p>
        </p:txBody>
      </p:sp>
      <p:cxnSp>
        <p:nvCxnSpPr>
          <p:cNvPr id="3" name="Connector 5">
            <a:extLst>
              <a:ext uri="{FF2B5EF4-FFF2-40B4-BE49-F238E27FC236}">
                <a16:creationId xmlns:a16="http://schemas.microsoft.com/office/drawing/2014/main" id="{DDEC5BCE-CAA1-44EC-057E-4A3074601DDF}"/>
              </a:ext>
            </a:extLst>
          </p:cNvPr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ECA2FC85-BD93-75F0-5A9C-337DDE1E203E}"/>
              </a:ext>
            </a:extLst>
          </p:cNvPr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50D82808-FBFE-95C3-C98E-0F65FE9EABED}"/>
              </a:ext>
            </a:extLst>
          </p:cNvPr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15">
            <a:extLst>
              <a:ext uri="{FF2B5EF4-FFF2-40B4-BE49-F238E27FC236}">
                <a16:creationId xmlns:a16="http://schemas.microsoft.com/office/drawing/2014/main" id="{46CB9ABF-52F3-1684-8537-3C995CCB62DD}"/>
              </a:ext>
            </a:extLst>
          </p:cNvPr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3">
            <a:extLst>
              <a:ext uri="{FF2B5EF4-FFF2-40B4-BE49-F238E27FC236}">
                <a16:creationId xmlns:a16="http://schemas.microsoft.com/office/drawing/2014/main" id="{6B4C5573-60E0-2928-79FB-F7301F505168}"/>
              </a:ext>
            </a:extLst>
          </p:cNvPr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9F92290-C8FA-755C-5C2F-E654910FF6FA}"/>
              </a:ext>
            </a:extLst>
          </p:cNvPr>
          <p:cNvSpPr txBox="1"/>
          <p:nvPr/>
        </p:nvSpPr>
        <p:spPr>
          <a:xfrm>
            <a:off x="649224" y="820084"/>
            <a:ext cx="60089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b="1" dirty="0">
                <a:solidFill>
                  <a:srgbClr val="2A2118"/>
                </a:solidFill>
                <a:latin typeface="Merriweather"/>
              </a:rPr>
              <a:t>Alkalmazott </a:t>
            </a:r>
            <a:r>
              <a:rPr lang="hu-HU" sz="2200" b="1" i="0" dirty="0">
                <a:solidFill>
                  <a:srgbClr val="2A2118"/>
                </a:solidFill>
                <a:latin typeface="Merriweather"/>
              </a:rPr>
              <a:t>módszerek </a:t>
            </a:r>
            <a:endParaRPr lang="hu-HU" sz="2200" dirty="0"/>
          </a:p>
        </p:txBody>
      </p:sp>
      <p:cxnSp>
        <p:nvCxnSpPr>
          <p:cNvPr id="11" name="Connector 6">
            <a:extLst>
              <a:ext uri="{FF2B5EF4-FFF2-40B4-BE49-F238E27FC236}">
                <a16:creationId xmlns:a16="http://schemas.microsoft.com/office/drawing/2014/main" id="{6CE687E1-5597-B28C-04CF-9C856791D7CC}"/>
              </a:ext>
            </a:extLst>
          </p:cNvPr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43">
            <a:extLst>
              <a:ext uri="{FF2B5EF4-FFF2-40B4-BE49-F238E27FC236}">
                <a16:creationId xmlns:a16="http://schemas.microsoft.com/office/drawing/2014/main" id="{8CC2ECFD-19AD-5BAE-9771-E9F0E8E43468}"/>
              </a:ext>
            </a:extLst>
          </p:cNvPr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13" name="TextBox 53">
            <a:extLst>
              <a:ext uri="{FF2B5EF4-FFF2-40B4-BE49-F238E27FC236}">
                <a16:creationId xmlns:a16="http://schemas.microsoft.com/office/drawing/2014/main" id="{F66540BD-0AFB-350C-4455-D809CD70889A}"/>
              </a:ext>
            </a:extLst>
          </p:cNvPr>
          <p:cNvSpPr txBox="1"/>
          <p:nvPr/>
        </p:nvSpPr>
        <p:spPr>
          <a:xfrm>
            <a:off x="649224" y="964692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 dirty="0">
                <a:solidFill>
                  <a:srgbClr val="8C6A2F"/>
                </a:solidFill>
                <a:latin typeface="Lato"/>
              </a:rPr>
              <a:t>✦   ✦   ✦</a:t>
            </a:r>
          </a:p>
        </p:txBody>
      </p:sp>
      <p:cxnSp>
        <p:nvCxnSpPr>
          <p:cNvPr id="14" name="Connector 54">
            <a:extLst>
              <a:ext uri="{FF2B5EF4-FFF2-40B4-BE49-F238E27FC236}">
                <a16:creationId xmlns:a16="http://schemas.microsoft.com/office/drawing/2014/main" id="{7DC56CC8-04E7-FBD9-37C7-5A39DC7C4448}"/>
              </a:ext>
            </a:extLst>
          </p:cNvPr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E13E15FA-51E3-3103-D5DB-431408A7B35F}"/>
              </a:ext>
            </a:extLst>
          </p:cNvPr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7">
            <a:extLst>
              <a:ext uri="{FF2B5EF4-FFF2-40B4-BE49-F238E27FC236}">
                <a16:creationId xmlns:a16="http://schemas.microsoft.com/office/drawing/2014/main" id="{F4605DEB-CC00-EADF-02F0-9CEF415FB415}"/>
              </a:ext>
            </a:extLst>
          </p:cNvPr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8">
            <a:extLst>
              <a:ext uri="{FF2B5EF4-FFF2-40B4-BE49-F238E27FC236}">
                <a16:creationId xmlns:a16="http://schemas.microsoft.com/office/drawing/2014/main" id="{8E5B5FC4-EEBF-42F2-69B0-6674CEEE3322}"/>
              </a:ext>
            </a:extLst>
          </p:cNvPr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55">
            <a:extLst>
              <a:ext uri="{FF2B5EF4-FFF2-40B4-BE49-F238E27FC236}">
                <a16:creationId xmlns:a16="http://schemas.microsoft.com/office/drawing/2014/main" id="{68941B8A-6782-94C4-0026-22E0B135E93E}"/>
              </a:ext>
            </a:extLst>
          </p:cNvPr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5A4A3A"/>
                </a:solidFill>
                <a:latin typeface="Lato"/>
              </a:rPr>
              <a:t>Kelecsényi Léna  · 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Spirituális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önismereti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tanácsadás</a:t>
            </a:r>
            <a:endParaRPr sz="800" b="0" i="0" dirty="0">
              <a:solidFill>
                <a:srgbClr val="5A4A3A"/>
              </a:solidFill>
              <a:latin typeface="Lato"/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EAEB77EC-11B8-1066-07A6-7CA447CEE1F3}"/>
              </a:ext>
            </a:extLst>
          </p:cNvPr>
          <p:cNvSpPr txBox="1"/>
          <p:nvPr/>
        </p:nvSpPr>
        <p:spPr>
          <a:xfrm>
            <a:off x="649224" y="1443761"/>
            <a:ext cx="6263637" cy="1965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/>
              </a:rPr>
              <a:t>Spirituális önismereti tanácsadóként a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karmaasztrológia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,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numerológia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,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kronobiológia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és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coaching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módszereit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ötvözöm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, ezáltal egy  komplex képet kaphatunk a </a:t>
            </a:r>
          </a:p>
          <a:p>
            <a:pPr algn="just"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/>
              </a:rPr>
              <a:t>alaposan fel lehet tárni a lélek tervét erre az inkarnációra.</a:t>
            </a:r>
          </a:p>
          <a:p>
            <a:pPr algn="just">
              <a:lnSpc>
                <a:spcPct val="140000"/>
              </a:lnSpc>
            </a:pPr>
            <a:endParaRPr lang="hu-HU" sz="1100" dirty="0">
              <a:solidFill>
                <a:srgbClr val="5A4A3A"/>
              </a:solidFill>
              <a:latin typeface="Merriweather"/>
            </a:endParaRPr>
          </a:p>
          <a:p>
            <a:pPr algn="just"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/>
              </a:rPr>
              <a:t>Segítek közelebb kerülni önmagadhoz, felismerni a benned rejlő lehetőségeket, rávilágítani életed fontos területeire. Támogatlak a nehézségek feltárásában, és irányt mutatok lelked térképén keresztül, hogy magabiztosabban haladhass az utadon és egy teljesebb képet adjak rólad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97A257C-89D2-680E-FF78-CAF9FB316C55}"/>
              </a:ext>
            </a:extLst>
          </p:cNvPr>
          <p:cNvSpPr txBox="1"/>
          <p:nvPr/>
        </p:nvSpPr>
        <p:spPr>
          <a:xfrm>
            <a:off x="2018404" y="3894183"/>
            <a:ext cx="3270553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hu-HU" sz="1100" b="0" i="0" dirty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2AD7B22-CDA7-B99F-E4C3-DDDA26942775}"/>
              </a:ext>
            </a:extLst>
          </p:cNvPr>
          <p:cNvSpPr txBox="1"/>
          <p:nvPr/>
        </p:nvSpPr>
        <p:spPr>
          <a:xfrm>
            <a:off x="649224" y="4747508"/>
            <a:ext cx="48530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hu-HU" sz="1100" b="1" i="0" dirty="0">
                <a:solidFill>
                  <a:srgbClr val="B8924A"/>
                </a:solidFill>
                <a:latin typeface="Lato"/>
              </a:rPr>
              <a:t>✦</a:t>
            </a:r>
            <a:endParaRPr lang="hu-HU" sz="1800" b="1" i="0" dirty="0">
              <a:solidFill>
                <a:srgbClr val="B8924A"/>
              </a:solidFill>
              <a:latin typeface="Lato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0FD7C7E4-3958-6F13-5DAF-B4C55594EF21}"/>
              </a:ext>
            </a:extLst>
          </p:cNvPr>
          <p:cNvSpPr txBox="1"/>
          <p:nvPr/>
        </p:nvSpPr>
        <p:spPr>
          <a:xfrm>
            <a:off x="914538" y="4710738"/>
            <a:ext cx="5850540" cy="780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/>
              </a:rPr>
              <a:t>A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numerológia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elemzés során beszélek az életfeladatból adódó lehetőségekről és nehézségekről, folyamatosan felbukkanó témákról, feladatokról a személyiség általános jellemzőiről, és életciklusokról. 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4684F940-2688-F7B1-1231-B46111DEC1F9}"/>
              </a:ext>
            </a:extLst>
          </p:cNvPr>
          <p:cNvSpPr txBox="1"/>
          <p:nvPr/>
        </p:nvSpPr>
        <p:spPr>
          <a:xfrm>
            <a:off x="891878" y="5635475"/>
            <a:ext cx="5681757" cy="781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/>
              </a:rPr>
              <a:t>A </a:t>
            </a:r>
            <a:r>
              <a:rPr lang="hu-HU" sz="1100" dirty="0" err="1">
                <a:solidFill>
                  <a:srgbClr val="5A4A3A"/>
                </a:solidFill>
                <a:latin typeface="Merriweather"/>
              </a:rPr>
              <a:t>kronobiológia</a:t>
            </a:r>
            <a:r>
              <a:rPr lang="hu-HU" sz="1100" dirty="0">
                <a:solidFill>
                  <a:srgbClr val="5A4A3A"/>
                </a:solidFill>
                <a:latin typeface="Merriweather"/>
              </a:rPr>
              <a:t> résznél az életenergiát nézem meg, és az hogyan töltődik be fizikai, érzelmi és szellemi szinten, és ezek az értékek milyen hatást gyakorolnak a személyiségre. </a:t>
            </a:r>
            <a:endParaRPr lang="hu-HU" sz="1100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A4E7CFF-DB21-BE17-A118-15CE57EF0BBC}"/>
              </a:ext>
            </a:extLst>
          </p:cNvPr>
          <p:cNvSpPr txBox="1"/>
          <p:nvPr/>
        </p:nvSpPr>
        <p:spPr>
          <a:xfrm>
            <a:off x="652834" y="5589316"/>
            <a:ext cx="48530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hu-HU" sz="1100" b="1" i="0" dirty="0">
                <a:solidFill>
                  <a:srgbClr val="B8924A"/>
                </a:solidFill>
                <a:latin typeface="Lato"/>
              </a:rPr>
              <a:t>✦</a:t>
            </a:r>
            <a:endParaRPr lang="hu-HU" sz="1800" b="1" i="0" dirty="0">
              <a:solidFill>
                <a:srgbClr val="B8924A"/>
              </a:solidFill>
              <a:latin typeface="Lato"/>
            </a:endParaRP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FD5F5291-67DB-40AF-C4D0-D6267BCB2A50}"/>
              </a:ext>
            </a:extLst>
          </p:cNvPr>
          <p:cNvSpPr txBox="1"/>
          <p:nvPr/>
        </p:nvSpPr>
        <p:spPr>
          <a:xfrm>
            <a:off x="652834" y="6374251"/>
            <a:ext cx="48530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hu-HU" sz="1100" b="1" i="0" dirty="0">
                <a:solidFill>
                  <a:srgbClr val="B8924A"/>
                </a:solidFill>
                <a:latin typeface="Lato"/>
              </a:rPr>
              <a:t>✦</a:t>
            </a:r>
            <a:endParaRPr lang="hu-HU" sz="1800" b="1" i="0" dirty="0">
              <a:solidFill>
                <a:srgbClr val="B8924A"/>
              </a:solidFill>
              <a:latin typeface="Lato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40CB6019-20A4-9189-A681-A0F3C3E42FD9}"/>
              </a:ext>
            </a:extLst>
          </p:cNvPr>
          <p:cNvSpPr txBox="1"/>
          <p:nvPr/>
        </p:nvSpPr>
        <p:spPr>
          <a:xfrm>
            <a:off x="891878" y="6387237"/>
            <a:ext cx="5733773" cy="108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 panose="00000500000000000000" pitchFamily="2" charset="-18"/>
              </a:rPr>
              <a:t>Az asztrológia  elemzésnél </a:t>
            </a:r>
          </a:p>
          <a:p>
            <a:pPr>
              <a:lnSpc>
                <a:spcPct val="140000"/>
              </a:lnSpc>
            </a:pPr>
            <a:r>
              <a:rPr lang="hu-HU" sz="1100" dirty="0">
                <a:solidFill>
                  <a:srgbClr val="5A4A3A"/>
                </a:solidFill>
                <a:latin typeface="Merriweather" panose="00000500000000000000" pitchFamily="2" charset="-18"/>
              </a:rPr>
              <a:t>legfontosabb életterületekről, amin érdemes munkálkodni, és még számos egyéb dolgot vizsgálok, ami a találkozás során intuitívan bomlik ki.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7026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" y="802661"/>
            <a:ext cx="626364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Elemzés</a:t>
            </a:r>
            <a:r>
              <a:rPr lang="hu-HU" sz="2200" b="1" i="0" dirty="0">
                <a:solidFill>
                  <a:srgbClr val="2A2118"/>
                </a:solidFill>
                <a:latin typeface="Merriweather"/>
              </a:rPr>
              <a:t> ajánlatok</a:t>
            </a:r>
            <a:endParaRPr sz="2200" b="1" i="0" dirty="0">
              <a:solidFill>
                <a:srgbClr val="2A2118"/>
              </a:solidFill>
              <a:latin typeface="Merriweather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" y="1517904"/>
            <a:ext cx="6263640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alkalmas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mély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beszélgetés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a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születési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térképed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alapján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.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Asztrológia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kronobiológia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numerológia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együtt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50" b="0" i="1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válaszd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azt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a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mélységet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ami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most a </a:t>
            </a:r>
            <a:r>
              <a:rPr sz="1050" b="0" i="1" dirty="0" err="1">
                <a:solidFill>
                  <a:srgbClr val="5A4A3A"/>
                </a:solidFill>
                <a:latin typeface="Merriweather"/>
              </a:rPr>
              <a:t>leginkább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50" b="0" i="1" dirty="0">
                <a:solidFill>
                  <a:srgbClr val="5A4A3A"/>
                </a:solidFill>
                <a:latin typeface="Merriweather"/>
              </a:rPr>
              <a:t>megfelel számodra</a:t>
            </a:r>
            <a:r>
              <a:rPr sz="1050" b="0" i="1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2066544"/>
            <a:ext cx="6263640" cy="2212848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 w="889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" y="2066544"/>
            <a:ext cx="6263640" cy="301752"/>
          </a:xfrm>
          <a:prstGeom prst="rect">
            <a:avLst/>
          </a:prstGeom>
          <a:solidFill>
            <a:srgbClr val="A8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2126889"/>
            <a:ext cx="4434840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F8F1E4"/>
                </a:solidFill>
                <a:latin typeface="Merriweather"/>
              </a:rPr>
              <a:t>Belépő</a:t>
            </a:r>
            <a:r>
              <a:rPr lang="hu-HU" sz="1200" b="1" i="0" dirty="0">
                <a:solidFill>
                  <a:srgbClr val="F8F1E4"/>
                </a:solidFill>
                <a:latin typeface="Merriweather"/>
              </a:rPr>
              <a:t> </a:t>
            </a:r>
            <a:r>
              <a:rPr sz="1200" b="1" i="0" dirty="0" err="1">
                <a:solidFill>
                  <a:srgbClr val="F8F1E4"/>
                </a:solidFill>
                <a:latin typeface="Merriweather"/>
              </a:rPr>
              <a:t>elemzés</a:t>
            </a:r>
            <a:endParaRPr sz="1200" b="1" i="0" dirty="0">
              <a:solidFill>
                <a:srgbClr val="F8F1E4"/>
              </a:solidFill>
              <a:latin typeface="Merriweath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8" y="245059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4A3A"/>
                </a:solidFill>
                <a:latin typeface="Lato"/>
              </a:rPr>
              <a:t>1 óra  ·  online vagy személyesen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432304"/>
            <a:ext cx="5971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A85A4E"/>
                </a:solidFill>
                <a:latin typeface="Merriweather"/>
              </a:rPr>
              <a:t>30 000 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2779776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8" y="2834640"/>
            <a:ext cx="5971032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dirty="0">
                <a:solidFill>
                  <a:srgbClr val="5A4A3A"/>
                </a:solidFill>
                <a:latin typeface="Merriweather"/>
              </a:rPr>
              <a:t>Ha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érdekel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az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asztrológia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, de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még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nem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tudod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biztosan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hogy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1" dirty="0">
                <a:solidFill>
                  <a:srgbClr val="5A4A3A"/>
                </a:solidFill>
                <a:latin typeface="Merriweather"/>
              </a:rPr>
              <a:t>neked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való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-e </a:t>
            </a:r>
            <a:r>
              <a:rPr lang="hu-HU" sz="1000" b="0" i="1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itt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érdemes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kezdeni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23697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236976"/>
            <a:ext cx="5788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A legfontosabb dolgok 1 órába sűrítve: asztrológia, kronobiológia, numerológia.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48386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483864"/>
            <a:ext cx="5788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Áttekintő kép a születési térképedről — a leglényegesebb mintákkal.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30752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730752"/>
            <a:ext cx="5788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Egy-egy témára nincs lehetőség külön ráfókuszálni — ez egy átfogó pillantás.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3977640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3977640"/>
            <a:ext cx="5788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Ideális első lépés: ha utána mélyebbre mennél, beleszámít a Komplex elemzés árába.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5528" y="5349240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5528" y="5806440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6053328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6053328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Plusz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aktualitások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lang="hu-HU" sz="950" b="0" i="0" dirty="0">
                <a:solidFill>
                  <a:srgbClr val="2A2118"/>
                </a:solidFill>
                <a:latin typeface="Merriweather"/>
              </a:rPr>
              <a:t>-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ami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most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körülvesz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,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egy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kis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előrejelzés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a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közeljövőre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630021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" y="6300216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Egy-egy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témára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van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lehetőség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külön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ráfókuszáln</a:t>
            </a:r>
            <a:r>
              <a:rPr lang="hu-HU" sz="950" b="0" i="0" dirty="0">
                <a:solidFill>
                  <a:srgbClr val="2A2118"/>
                </a:solidFill>
                <a:latin typeface="Merriweather"/>
              </a:rPr>
              <a:t>i, ami leginkább foglalkoztat.</a:t>
            </a:r>
            <a:endParaRPr sz="950" b="0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5528" y="654710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6547104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Idő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van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rá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,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hogy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kérdezz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,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lang="hu-HU" sz="950" b="0" i="0" dirty="0">
                <a:solidFill>
                  <a:srgbClr val="2A2118"/>
                </a:solidFill>
                <a:latin typeface="Merriweather"/>
              </a:rPr>
              <a:t>azt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részletesebben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kibontsunk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" y="7205472"/>
            <a:ext cx="6263640" cy="2212848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 w="889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" y="7205472"/>
            <a:ext cx="6263640" cy="301752"/>
          </a:xfrm>
          <a:prstGeom prst="rect">
            <a:avLst/>
          </a:prstGeom>
          <a:solidFill>
            <a:srgbClr val="9A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5528" y="758952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4A3A"/>
                </a:solidFill>
                <a:latin typeface="Lato"/>
              </a:rPr>
              <a:t>2 óra  ·  online vagy személyesen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" y="7571232"/>
            <a:ext cx="5971032" cy="265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hu-HU" sz="1600" b="1" i="0" dirty="0">
                <a:solidFill>
                  <a:srgbClr val="9A6B1F"/>
                </a:solidFill>
                <a:latin typeface="Merriweather"/>
              </a:rPr>
              <a:t>ű</a:t>
            </a:r>
            <a:endParaRPr sz="1600" b="1" i="0" dirty="0">
              <a:solidFill>
                <a:srgbClr val="9A6B1F"/>
              </a:solidFill>
              <a:latin typeface="Merriweather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795528" y="7918704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95528" y="7973568"/>
            <a:ext cx="5971032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837590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" y="8375904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" y="8622792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2" y="8648396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8869680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" y="8869680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" y="9116568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" y="9116568"/>
            <a:ext cx="5788152" cy="15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 sz="950" b="0" i="0" dirty="0">
              <a:solidFill>
                <a:srgbClr val="2A2118"/>
              </a:solidFill>
              <a:latin typeface="Merriweather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68" name="TextBox 53">
            <a:extLst>
              <a:ext uri="{FF2B5EF4-FFF2-40B4-BE49-F238E27FC236}">
                <a16:creationId xmlns:a16="http://schemas.microsoft.com/office/drawing/2014/main" id="{C508CBCA-B8A0-07C0-829C-5BA5CA320743}"/>
              </a:ext>
            </a:extLst>
          </p:cNvPr>
          <p:cNvSpPr txBox="1"/>
          <p:nvPr/>
        </p:nvSpPr>
        <p:spPr>
          <a:xfrm>
            <a:off x="649224" y="964692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 dirty="0">
                <a:solidFill>
                  <a:srgbClr val="8C6A2F"/>
                </a:solidFill>
                <a:latin typeface="Lato"/>
              </a:rPr>
              <a:t>✦   ✦   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" y="-698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" y="801047"/>
            <a:ext cx="626364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Hogyan</a:t>
            </a:r>
            <a:r>
              <a:rPr sz="22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dolgozunk</a:t>
            </a:r>
            <a:r>
              <a:rPr sz="22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együtt</a:t>
            </a:r>
            <a:endParaRPr sz="2200" b="1" i="0" dirty="0">
              <a:solidFill>
                <a:srgbClr val="2A2118"/>
              </a:solidFill>
              <a:latin typeface="Merriweather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9224" y="1609344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1655973"/>
            <a:ext cx="292608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1591056"/>
            <a:ext cx="585216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Jelentkezés</a:t>
            </a:r>
            <a:endParaRPr sz="12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704" y="1837944"/>
            <a:ext cx="5852160" cy="562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hu-HU" sz="1000" dirty="0">
                <a:solidFill>
                  <a:srgbClr val="5A4A3A"/>
                </a:solidFill>
                <a:latin typeface="Merriweather"/>
              </a:rPr>
              <a:t>A megadott elérhetőségeim egyikén írd meg a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születési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adat</a:t>
            </a:r>
            <a:r>
              <a:rPr lang="hu-HU" sz="1000" b="0" i="0" dirty="0" err="1">
                <a:solidFill>
                  <a:srgbClr val="5A4A3A"/>
                </a:solidFill>
                <a:latin typeface="Merriweather"/>
              </a:rPr>
              <a:t>aidat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(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dátum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idő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hely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)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néhány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kérdés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t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arról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hogy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most mi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foglalkoztat</a:t>
            </a:r>
            <a:r>
              <a:rPr lang="hu-HU" sz="1000" dirty="0">
                <a:solidFill>
                  <a:srgbClr val="5A4A3A"/>
                </a:solidFill>
                <a:latin typeface="Merriweather"/>
              </a:rPr>
              <a:t>- ezekből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készülök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fel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.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 Válaszul elküldöm a fizetési információkat és az elérhető időpontokat.</a:t>
            </a:r>
            <a:endParaRPr sz="1000" b="0" i="0" dirty="0">
              <a:solidFill>
                <a:srgbClr val="5A4A3A"/>
              </a:solidFill>
              <a:latin typeface="Merriweather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6844" y="2411026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844" y="2451315"/>
            <a:ext cx="292608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8F1E4"/>
                </a:solidFill>
                <a:latin typeface="Merriweath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2410007"/>
            <a:ext cx="585216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Időpont</a:t>
            </a:r>
            <a:r>
              <a:rPr sz="12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egyeztetés</a:t>
            </a:r>
            <a:endParaRPr sz="12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0704" y="2693201"/>
            <a:ext cx="585216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 dirty="0">
                <a:solidFill>
                  <a:srgbClr val="5A4A3A"/>
                </a:solidFill>
                <a:latin typeface="Merriweather"/>
              </a:rPr>
              <a:t>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foglalás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teljes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díj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kifizetésével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válik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véglegessé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671322" y="3267885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" y="3289565"/>
            <a:ext cx="272796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8F1E4"/>
                </a:solidFill>
                <a:latin typeface="Merriweath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266175"/>
            <a:ext cx="585216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200" b="1" i="0" dirty="0">
                <a:solidFill>
                  <a:srgbClr val="2A2118"/>
                </a:solidFill>
                <a:latin typeface="Merriweather"/>
              </a:rPr>
              <a:t>A </a:t>
            </a: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találkozás</a:t>
            </a:r>
            <a:endParaRPr sz="12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0704" y="3564621"/>
            <a:ext cx="5852160" cy="562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Online</a:t>
            </a:r>
            <a:r>
              <a:rPr lang="hu-HU" sz="1000" dirty="0">
                <a:solidFill>
                  <a:srgbClr val="5A4A3A"/>
                </a:solidFill>
                <a:latin typeface="Merriweather"/>
              </a:rPr>
              <a:t>: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 Google </a:t>
            </a:r>
            <a:r>
              <a:rPr lang="hu-HU" sz="1000" b="0" i="0" dirty="0" err="1">
                <a:solidFill>
                  <a:srgbClr val="5A4A3A"/>
                </a:solidFill>
                <a:latin typeface="Merriweather"/>
              </a:rPr>
              <a:t>Meet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, vagy személyes találkozó - ahogy neked kényelmesebb. </a:t>
            </a:r>
            <a:r>
              <a:rPr lang="hu-HU" sz="1000" dirty="0">
                <a:solidFill>
                  <a:srgbClr val="5A4A3A"/>
                </a:solidFill>
                <a:latin typeface="Merriweather"/>
              </a:rPr>
              <a:t>V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ezetett beszélgetés során közösen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tárjuk fel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a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lelked kódjait és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térkép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é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t. </a:t>
            </a:r>
            <a:r>
              <a:rPr lang="hu-HU" sz="1000" dirty="0">
                <a:solidFill>
                  <a:srgbClr val="5A4A3A"/>
                </a:solidFill>
                <a:latin typeface="Merriweather"/>
              </a:rPr>
              <a:t>K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érdezhetsz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megállíthatsz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mélyebbre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mehetünk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témában</a:t>
            </a:r>
            <a:endParaRPr sz="1000" b="0" i="0" dirty="0">
              <a:solidFill>
                <a:srgbClr val="5A4A3A"/>
              </a:solidFill>
              <a:latin typeface="Merriweather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1322" y="4354837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322" y="4393398"/>
            <a:ext cx="292608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8F1E4"/>
                </a:solidFill>
                <a:latin typeface="Merriweath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366219"/>
            <a:ext cx="585216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Utánkövetés</a:t>
            </a:r>
            <a:endParaRPr sz="120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0704" y="4689238"/>
            <a:ext cx="5852160" cy="562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 dirty="0">
                <a:solidFill>
                  <a:srgbClr val="5A4A3A"/>
                </a:solidFill>
                <a:latin typeface="Merriweather"/>
              </a:rPr>
              <a:t>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találkozás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után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még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napokig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forrnak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az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új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meglátások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ha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kérdés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merül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fel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rövid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írásos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egyeztetésre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van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mód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.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Írásos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összefoglalót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nem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készítek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;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ami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elhangzik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azzal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dolgozol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tovább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" y="5522976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" y="5569605"/>
            <a:ext cx="292608" cy="19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8F1E4"/>
                </a:solidFill>
                <a:latin typeface="Merriweath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5504688"/>
            <a:ext cx="585216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200" b="1" i="0" dirty="0" err="1">
                <a:solidFill>
                  <a:srgbClr val="2A2118"/>
                </a:solidFill>
                <a:latin typeface="Merriweather"/>
              </a:rPr>
              <a:t>Folytatás</a:t>
            </a:r>
            <a:r>
              <a:rPr sz="1200" b="1" i="0" dirty="0">
                <a:solidFill>
                  <a:srgbClr val="2A2118"/>
                </a:solidFill>
                <a:latin typeface="Merriweather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5751576"/>
            <a:ext cx="5852160" cy="370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 dirty="0">
                <a:solidFill>
                  <a:srgbClr val="5A4A3A"/>
                </a:solidFill>
                <a:latin typeface="Merriweather"/>
              </a:rPr>
              <a:t>Ha 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Belépő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elemzés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után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egy másik alkalommal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mélyebbre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mennél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egy 4-8 alkalmas önismereti folyamatba folytathatjuk a közös munkát, ami elköteleződéssel jár.</a:t>
            </a:r>
            <a:endParaRPr sz="1000" b="0" i="0" dirty="0">
              <a:solidFill>
                <a:srgbClr val="5A4A3A"/>
              </a:solidFill>
              <a:latin typeface="Merriweath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1228" y="6687035"/>
            <a:ext cx="2743200" cy="232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400" b="1" i="0" dirty="0" err="1">
                <a:solidFill>
                  <a:srgbClr val="8C6A2F"/>
                </a:solidFill>
                <a:latin typeface="Merriweather"/>
              </a:rPr>
              <a:t>Jó</a:t>
            </a:r>
            <a:r>
              <a:rPr sz="1400" b="1" i="0" dirty="0">
                <a:solidFill>
                  <a:srgbClr val="8C6A2F"/>
                </a:solidFill>
                <a:latin typeface="Merriweather"/>
              </a:rPr>
              <a:t> </a:t>
            </a:r>
            <a:r>
              <a:rPr sz="1400" b="1" i="0" dirty="0" err="1">
                <a:solidFill>
                  <a:srgbClr val="8C6A2F"/>
                </a:solidFill>
                <a:latin typeface="Merriweather"/>
              </a:rPr>
              <a:t>tudni</a:t>
            </a:r>
            <a:endParaRPr sz="1400" b="1" i="0" dirty="0">
              <a:solidFill>
                <a:srgbClr val="8C6A2F"/>
              </a:solidFill>
              <a:latin typeface="Merriweather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81228" y="6944868"/>
            <a:ext cx="502920" cy="0"/>
          </a:xfrm>
          <a:prstGeom prst="line">
            <a:avLst/>
          </a:prstGeom>
          <a:ln w="762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6844" y="7211223"/>
            <a:ext cx="6263640" cy="166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000" b="1" i="0" dirty="0">
                <a:solidFill>
                  <a:srgbClr val="8C6A2F"/>
                </a:solidFill>
                <a:latin typeface="Merriweather"/>
              </a:rPr>
              <a:t>Mi </a:t>
            </a: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kell</a:t>
            </a:r>
            <a:r>
              <a:rPr sz="1000" b="1" i="0" dirty="0">
                <a:solidFill>
                  <a:srgbClr val="8C6A2F"/>
                </a:solidFill>
                <a:latin typeface="Merriweather"/>
              </a:rPr>
              <a:t> a </a:t>
            </a: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foglaláshoz</a:t>
            </a:r>
            <a:r>
              <a:rPr sz="1000" b="1" i="0" dirty="0">
                <a:solidFill>
                  <a:srgbClr val="8C6A2F"/>
                </a:solidFill>
                <a:latin typeface="Merriweather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322" y="7441662"/>
            <a:ext cx="626364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Pontos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születési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dátum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,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idő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(perc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pontosság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ideális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)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hely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844" y="7823901"/>
            <a:ext cx="6263640" cy="166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000" b="1" i="0" dirty="0">
                <a:solidFill>
                  <a:srgbClr val="8C6A2F"/>
                </a:solidFill>
                <a:latin typeface="Merriweather"/>
              </a:rPr>
              <a:t>Kapok </a:t>
            </a: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írásos</a:t>
            </a:r>
            <a:r>
              <a:rPr sz="1000" b="1" i="0" dirty="0">
                <a:solidFill>
                  <a:srgbClr val="8C6A2F"/>
                </a:solidFill>
                <a:latin typeface="Merriweather"/>
              </a:rPr>
              <a:t> </a:t>
            </a: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összefoglalót</a:t>
            </a:r>
            <a:r>
              <a:rPr sz="1000" b="1" i="0" dirty="0">
                <a:solidFill>
                  <a:srgbClr val="8C6A2F"/>
                </a:solidFill>
                <a:latin typeface="Merriweather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8046877"/>
            <a:ext cx="6263640" cy="351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950" b="0" i="0" dirty="0">
                <a:solidFill>
                  <a:srgbClr val="2A2118"/>
                </a:solidFill>
                <a:latin typeface="Merriweather"/>
              </a:rPr>
              <a:t>A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beszélgetés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lang="hu-HU" sz="950" b="0" i="0" dirty="0">
                <a:solidFill>
                  <a:srgbClr val="2A2118"/>
                </a:solidFill>
                <a:latin typeface="Merriweather"/>
              </a:rPr>
              <a:t>alatt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érdemes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magadnak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jegyzetelned</a:t>
            </a:r>
            <a:r>
              <a:rPr lang="hu-HU" sz="950" b="0" i="0" dirty="0">
                <a:solidFill>
                  <a:srgbClr val="2A2118"/>
                </a:solidFill>
                <a:latin typeface="Merriweather"/>
              </a:rPr>
              <a:t>,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vagy</a:t>
            </a:r>
            <a:r>
              <a:rPr lang="hu-HU" sz="95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engedélyemmel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hangrögzítést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készítened</a:t>
            </a:r>
            <a:r>
              <a:rPr lang="pt-BR" sz="950" dirty="0">
                <a:solidFill>
                  <a:srgbClr val="2A2118"/>
                </a:solidFill>
                <a:latin typeface="Merriweather"/>
              </a:rPr>
              <a:t>,</a:t>
            </a:r>
            <a:r>
              <a:rPr lang="pt-BR" sz="950" b="0" i="0" dirty="0">
                <a:solidFill>
                  <a:srgbClr val="2A2118"/>
                </a:solidFill>
                <a:latin typeface="Merriweather"/>
              </a:rPr>
              <a:t> írásos anyagot nem készítek. </a:t>
            </a:r>
            <a:endParaRPr lang="hu-HU" sz="950" b="0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9224" y="8639527"/>
            <a:ext cx="6263640" cy="166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Lemondás</a:t>
            </a:r>
            <a:r>
              <a:rPr sz="1000" b="1" i="0" dirty="0">
                <a:solidFill>
                  <a:srgbClr val="8C6A2F"/>
                </a:solidFill>
                <a:latin typeface="Merriweather"/>
              </a:rPr>
              <a:t>, </a:t>
            </a:r>
            <a:r>
              <a:rPr sz="1000" b="1" i="0" dirty="0" err="1">
                <a:solidFill>
                  <a:srgbClr val="8C6A2F"/>
                </a:solidFill>
                <a:latin typeface="Merriweather"/>
              </a:rPr>
              <a:t>halasztás</a:t>
            </a:r>
            <a:endParaRPr sz="1000" b="1" i="0" dirty="0">
              <a:solidFill>
                <a:srgbClr val="8C6A2F"/>
              </a:solidFill>
              <a:latin typeface="Merriweathe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" y="8876784"/>
            <a:ext cx="626364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950" b="0" i="0" dirty="0">
                <a:solidFill>
                  <a:srgbClr val="2A2118"/>
                </a:solidFill>
                <a:latin typeface="Merriweather"/>
              </a:rPr>
              <a:t>48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órán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belüli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lemondás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esetén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a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díj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50%-a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kerül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felszámolásra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;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ennél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korábban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díjmentes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950" b="0" i="0" dirty="0" err="1">
                <a:solidFill>
                  <a:srgbClr val="2A2118"/>
                </a:solidFill>
                <a:latin typeface="Merriweather"/>
              </a:rPr>
              <a:t>átütemezés</a:t>
            </a:r>
            <a:r>
              <a:rPr sz="950" b="0" i="0" dirty="0">
                <a:solidFill>
                  <a:srgbClr val="2A2118"/>
                </a:solidFill>
                <a:latin typeface="Merriweather"/>
              </a:rPr>
              <a:t>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9224" y="9912096"/>
            <a:ext cx="3657600" cy="12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7036" y="9927381"/>
            <a:ext cx="914400" cy="161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sz="1000" b="0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49" name="TextBox 53">
            <a:extLst>
              <a:ext uri="{FF2B5EF4-FFF2-40B4-BE49-F238E27FC236}">
                <a16:creationId xmlns:a16="http://schemas.microsoft.com/office/drawing/2014/main" id="{8944A51D-A93D-1E69-A644-74A170166815}"/>
              </a:ext>
            </a:extLst>
          </p:cNvPr>
          <p:cNvSpPr txBox="1"/>
          <p:nvPr/>
        </p:nvSpPr>
        <p:spPr>
          <a:xfrm>
            <a:off x="649224" y="964692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 dirty="0">
                <a:solidFill>
                  <a:srgbClr val="8C6A2F"/>
                </a:solidFill>
                <a:latin typeface="Lato"/>
              </a:rPr>
              <a:t>✦   ✦   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" y="825246"/>
            <a:ext cx="6263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Foglalás</a:t>
            </a:r>
            <a:r>
              <a:rPr sz="22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és</a:t>
            </a:r>
            <a:r>
              <a:rPr sz="22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2200" b="1" i="0" dirty="0" err="1">
                <a:solidFill>
                  <a:srgbClr val="2A2118"/>
                </a:solidFill>
                <a:latin typeface="Merriweather"/>
              </a:rPr>
              <a:t>kapcsolat</a:t>
            </a:r>
            <a:endParaRPr sz="2200" b="1" i="0" dirty="0">
              <a:solidFill>
                <a:srgbClr val="2A2118"/>
              </a:solidFill>
              <a:latin typeface="Merriweather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9224" y="2340864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 dirty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" y="6212781"/>
            <a:ext cx="6263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 dirty="0" err="1">
                <a:solidFill>
                  <a:srgbClr val="2A2118"/>
                </a:solidFill>
                <a:latin typeface="Merriweather"/>
              </a:rPr>
              <a:t>Készen</a:t>
            </a:r>
            <a:r>
              <a:rPr sz="16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600" b="1" i="0" dirty="0" err="1">
                <a:solidFill>
                  <a:srgbClr val="2A2118"/>
                </a:solidFill>
                <a:latin typeface="Merriweather"/>
              </a:rPr>
              <a:t>állsz</a:t>
            </a:r>
            <a:r>
              <a:rPr sz="16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600" b="1" i="0" dirty="0" err="1">
                <a:solidFill>
                  <a:srgbClr val="2A2118"/>
                </a:solidFill>
                <a:latin typeface="Merriweather"/>
              </a:rPr>
              <a:t>az</a:t>
            </a:r>
            <a:r>
              <a:rPr sz="16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600" b="1" i="0" dirty="0" err="1">
                <a:solidFill>
                  <a:srgbClr val="2A2118"/>
                </a:solidFill>
                <a:latin typeface="Merriweather"/>
              </a:rPr>
              <a:t>első</a:t>
            </a:r>
            <a:r>
              <a:rPr sz="160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600" b="1" i="0" dirty="0" err="1">
                <a:solidFill>
                  <a:srgbClr val="2A2118"/>
                </a:solidFill>
                <a:latin typeface="Merriweather"/>
              </a:rPr>
              <a:t>találkozásra</a:t>
            </a:r>
            <a:r>
              <a:rPr sz="1600" b="1" i="0" dirty="0">
                <a:solidFill>
                  <a:srgbClr val="2A2118"/>
                </a:solidFill>
                <a:latin typeface="Merriweather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" y="6700244"/>
            <a:ext cx="6263640" cy="57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 dirty="0">
                <a:solidFill>
                  <a:srgbClr val="5A4A3A"/>
                </a:solidFill>
                <a:latin typeface="Merriweather"/>
              </a:rPr>
              <a:t>Az </a:t>
            </a:r>
            <a:r>
              <a:rPr sz="1100" b="0" i="1" dirty="0" err="1">
                <a:solidFill>
                  <a:srgbClr val="5A4A3A"/>
                </a:solidFill>
                <a:latin typeface="Merriweather"/>
              </a:rPr>
              <a:t>alábbi</a:t>
            </a:r>
            <a:r>
              <a:rPr sz="11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1" dirty="0" err="1">
                <a:solidFill>
                  <a:srgbClr val="5A4A3A"/>
                </a:solidFill>
                <a:latin typeface="Merriweather"/>
              </a:rPr>
              <a:t>elérhetőségek</a:t>
            </a:r>
            <a:r>
              <a:rPr sz="11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1" dirty="0" err="1">
                <a:solidFill>
                  <a:srgbClr val="5A4A3A"/>
                </a:solidFill>
                <a:latin typeface="Merriweather"/>
              </a:rPr>
              <a:t>bármelyikén</a:t>
            </a:r>
            <a:r>
              <a:rPr sz="11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100" b="0" i="1" dirty="0" err="1">
                <a:solidFill>
                  <a:srgbClr val="5A4A3A"/>
                </a:solidFill>
                <a:latin typeface="Merriweather"/>
              </a:rPr>
              <a:t>megtalálsz</a:t>
            </a:r>
            <a:r>
              <a:rPr sz="1100" b="0" i="1" dirty="0">
                <a:solidFill>
                  <a:srgbClr val="5A4A3A"/>
                </a:solidFill>
                <a:latin typeface="Merriweather"/>
              </a:rPr>
              <a:t>.</a:t>
            </a:r>
            <a:endParaRPr lang="hu-HU" sz="1100" b="0" i="1" dirty="0">
              <a:solidFill>
                <a:srgbClr val="5A4A3A"/>
              </a:solidFill>
              <a:latin typeface="Merriweather"/>
            </a:endParaRPr>
          </a:p>
          <a:p>
            <a:pPr algn="ctr">
              <a:lnSpc>
                <a:spcPct val="115000"/>
              </a:lnSpc>
            </a:pPr>
            <a:endParaRPr lang="hu-HU" sz="1100" b="0" i="1" dirty="0">
              <a:solidFill>
                <a:srgbClr val="5A4A3A"/>
              </a:solidFill>
              <a:latin typeface="Merriweather"/>
            </a:endParaRPr>
          </a:p>
          <a:p>
            <a:pPr algn="ctr">
              <a:lnSpc>
                <a:spcPct val="115000"/>
              </a:lnSpc>
            </a:pPr>
            <a:r>
              <a:rPr lang="hu-HU" sz="1100" i="1" dirty="0">
                <a:solidFill>
                  <a:srgbClr val="5A4A3A"/>
                </a:solidFill>
                <a:latin typeface="Merriweather"/>
              </a:rPr>
              <a:t>Jelentkezés után 1-3 napon belül felveszem veled a kapcsolatot.</a:t>
            </a:r>
            <a:endParaRPr sz="1100" b="0" i="1" dirty="0">
              <a:solidFill>
                <a:srgbClr val="5A4A3A"/>
              </a:solidFill>
              <a:latin typeface="Merriweath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784" y="2731748"/>
            <a:ext cx="62636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hu-HU" sz="1250" b="1" dirty="0">
                <a:solidFill>
                  <a:srgbClr val="2A2118"/>
                </a:solidFill>
                <a:latin typeface="Merriweather"/>
              </a:rPr>
              <a:t>Am</a:t>
            </a:r>
            <a:r>
              <a:rPr sz="1250" b="1" i="0" dirty="0">
                <a:solidFill>
                  <a:srgbClr val="2A2118"/>
                </a:solidFill>
                <a:latin typeface="Merriweather"/>
              </a:rPr>
              <a:t>it </a:t>
            </a:r>
            <a:r>
              <a:rPr sz="1250" b="1" i="0" dirty="0" err="1">
                <a:solidFill>
                  <a:srgbClr val="2A2118"/>
                </a:solidFill>
                <a:latin typeface="Merriweather"/>
              </a:rPr>
              <a:t>érdemes</a:t>
            </a:r>
            <a:r>
              <a:rPr sz="125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250" b="1" i="0" dirty="0" err="1">
                <a:solidFill>
                  <a:srgbClr val="2A2118"/>
                </a:solidFill>
                <a:latin typeface="Merriweather"/>
              </a:rPr>
              <a:t>belefoglalni</a:t>
            </a:r>
            <a:r>
              <a:rPr sz="125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250" b="1" i="0" dirty="0" err="1">
                <a:solidFill>
                  <a:srgbClr val="2A2118"/>
                </a:solidFill>
                <a:latin typeface="Merriweather"/>
              </a:rPr>
              <a:t>az</a:t>
            </a:r>
            <a:r>
              <a:rPr sz="125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250" b="1" i="0" dirty="0" err="1">
                <a:solidFill>
                  <a:srgbClr val="2A2118"/>
                </a:solidFill>
                <a:latin typeface="Merriweather"/>
              </a:rPr>
              <a:t>első</a:t>
            </a:r>
            <a:r>
              <a:rPr sz="1250" b="1" i="0" dirty="0">
                <a:solidFill>
                  <a:srgbClr val="2A2118"/>
                </a:solidFill>
                <a:latin typeface="Merriweather"/>
              </a:rPr>
              <a:t> </a:t>
            </a:r>
            <a:r>
              <a:rPr sz="1250" b="1" i="0" dirty="0" err="1">
                <a:solidFill>
                  <a:srgbClr val="2A2118"/>
                </a:solidFill>
                <a:latin typeface="Merriweather"/>
              </a:rPr>
              <a:t>üzenetbe</a:t>
            </a:r>
            <a:endParaRPr sz="1250" b="1" i="0" dirty="0">
              <a:solidFill>
                <a:srgbClr val="2A2118"/>
              </a:solidFill>
              <a:latin typeface="Merriweath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36345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330986"/>
            <a:ext cx="5897880" cy="183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Születési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adatok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dátum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óra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perc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pontosság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ideális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a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születés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helye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(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város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452979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18432"/>
            <a:ext cx="5897880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5A4A3A"/>
                </a:solidFill>
                <a:latin typeface="Merriweather"/>
              </a:rPr>
              <a:t>Mi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foglalkoztat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most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–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1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2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mondatban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: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döntés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életszakasz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egy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téma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b="0" i="0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bármi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amire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most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rálátást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0" dirty="0" err="1">
                <a:solidFill>
                  <a:srgbClr val="5A4A3A"/>
                </a:solidFill>
                <a:latin typeface="Merriweather"/>
              </a:rPr>
              <a:t>szeretnél</a:t>
            </a:r>
            <a:r>
              <a:rPr sz="1000" b="0" i="0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" y="7936992"/>
            <a:ext cx="6263640" cy="1691640"/>
          </a:xfrm>
          <a:prstGeom prst="roundRect">
            <a:avLst>
              <a:gd name="adj" fmla="val 5000"/>
            </a:avLst>
          </a:prstGeom>
          <a:solidFill>
            <a:srgbClr val="EFE3CC"/>
          </a:solidFill>
          <a:ln w="1016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" y="804672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C6A2F"/>
                </a:solidFill>
                <a:latin typeface="Lato"/>
              </a:rPr>
              <a:t>KAPCSOLAT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4984" y="8302752"/>
            <a:ext cx="553212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9224" y="8348472"/>
            <a:ext cx="6263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2118"/>
                </a:solidFill>
                <a:latin typeface="Merriweather"/>
              </a:rPr>
              <a:t>Kelecsényi Léna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8805672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E-MAIL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9006840"/>
            <a:ext cx="2087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A2118"/>
                </a:solidFill>
                <a:latin typeface="Merriweather"/>
              </a:rPr>
              <a:t>kelecsenyi.lena@gmail.com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7104" y="8805672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TELEFON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7104" y="9006840"/>
            <a:ext cx="2087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dirty="0">
                <a:solidFill>
                  <a:srgbClr val="2A2118"/>
                </a:solidFill>
                <a:latin typeface="Merriweather"/>
              </a:rPr>
              <a:t>+36 70 425 6216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4984" y="8805672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INSTAGRAM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4984" y="9006840"/>
            <a:ext cx="2087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A2118"/>
                </a:solidFill>
                <a:latin typeface="Merriweather"/>
              </a:rPr>
              <a:t>@lena.kelecsenyi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9244584"/>
            <a:ext cx="6263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dirty="0">
                <a:solidFill>
                  <a:srgbClr val="B8924A"/>
                </a:solidFill>
                <a:latin typeface="Lato"/>
              </a:rPr>
              <a:t>✦  ✦  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9427464"/>
            <a:ext cx="6263640" cy="166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Köszönöm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,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hogy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időt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szántál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erre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lang="hu-HU" sz="1000" i="1" dirty="0">
                <a:solidFill>
                  <a:srgbClr val="5A4A3A"/>
                </a:solidFill>
                <a:latin typeface="Merriweather"/>
              </a:rPr>
              <a:t>-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várom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az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 </a:t>
            </a:r>
            <a:r>
              <a:rPr sz="1000" b="0" i="1" dirty="0" err="1">
                <a:solidFill>
                  <a:srgbClr val="5A4A3A"/>
                </a:solidFill>
                <a:latin typeface="Merriweather"/>
              </a:rPr>
              <a:t>üzeneted</a:t>
            </a:r>
            <a:r>
              <a:rPr sz="1000" b="0" i="1" dirty="0">
                <a:solidFill>
                  <a:srgbClr val="5A4A3A"/>
                </a:solidFill>
                <a:latin typeface="Merriweather"/>
              </a:rPr>
              <a:t>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9239" y="9903189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5A4A3A"/>
                </a:solidFill>
                <a:latin typeface="Lato"/>
              </a:rPr>
              <a:t>Kelecsényi Léna  · 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Spirituális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önismereti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tanácsadás</a:t>
            </a:r>
            <a:endParaRPr sz="800" b="0" i="0" dirty="0">
              <a:solidFill>
                <a:srgbClr val="5A4A3A"/>
              </a:solidFill>
              <a:latin typeface="Lato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276FF-F83A-C07B-61F4-1F28610B5128}"/>
              </a:ext>
            </a:extLst>
          </p:cNvPr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endParaRPr lang="hu-HU" sz="1800" b="0" i="0" dirty="0">
              <a:solidFill>
                <a:srgbClr val="B8924A"/>
              </a:solidFill>
              <a:latin typeface="Lato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3AEB685-BBD1-1B69-F8BB-11CD07D5FCC8}"/>
              </a:ext>
            </a:extLst>
          </p:cNvPr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07115EF-C6AF-91EE-D497-844EDCA680EF}"/>
              </a:ext>
            </a:extLst>
          </p:cNvPr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15">
            <a:extLst>
              <a:ext uri="{FF2B5EF4-FFF2-40B4-BE49-F238E27FC236}">
                <a16:creationId xmlns:a16="http://schemas.microsoft.com/office/drawing/2014/main" id="{908C37D6-BBBE-FE22-CE91-8B7A30DF191A}"/>
              </a:ext>
            </a:extLst>
          </p:cNvPr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4">
            <a:extLst>
              <a:ext uri="{FF2B5EF4-FFF2-40B4-BE49-F238E27FC236}">
                <a16:creationId xmlns:a16="http://schemas.microsoft.com/office/drawing/2014/main" id="{60B5EE0E-67D6-50ED-C836-B6ECCEA08961}"/>
              </a:ext>
            </a:extLst>
          </p:cNvPr>
          <p:cNvSpPr txBox="1"/>
          <p:nvPr/>
        </p:nvSpPr>
        <p:spPr>
          <a:xfrm>
            <a:off x="681228" y="828701"/>
            <a:ext cx="626364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hu-HU" sz="2200" b="1" i="0" dirty="0">
                <a:solidFill>
                  <a:srgbClr val="2A2118"/>
                </a:solidFill>
                <a:latin typeface="Merriweather"/>
              </a:rPr>
              <a:t>Röviden rólam</a:t>
            </a:r>
            <a:endParaRPr sz="2200" b="1" i="0" dirty="0">
              <a:solidFill>
                <a:srgbClr val="2A2118"/>
              </a:solidFill>
              <a:latin typeface="Merriweather"/>
            </a:endParaRPr>
          </a:p>
        </p:txBody>
      </p: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3F39DD4C-D849-F8EF-A659-C927F1711513}"/>
              </a:ext>
            </a:extLst>
          </p:cNvPr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A9D05D23-4FF6-D02D-38C4-E1430A02EB3A}"/>
              </a:ext>
            </a:extLst>
          </p:cNvPr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41">
            <a:extLst>
              <a:ext uri="{FF2B5EF4-FFF2-40B4-BE49-F238E27FC236}">
                <a16:creationId xmlns:a16="http://schemas.microsoft.com/office/drawing/2014/main" id="{9BD5DFEA-4BE7-CB66-EE28-4582E3F9E87B}"/>
              </a:ext>
            </a:extLst>
          </p:cNvPr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8">
            <a:extLst>
              <a:ext uri="{FF2B5EF4-FFF2-40B4-BE49-F238E27FC236}">
                <a16:creationId xmlns:a16="http://schemas.microsoft.com/office/drawing/2014/main" id="{725B1EA1-5116-AAB1-8F01-457E8F01C6F7}"/>
              </a:ext>
            </a:extLst>
          </p:cNvPr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9">
            <a:extLst>
              <a:ext uri="{FF2B5EF4-FFF2-40B4-BE49-F238E27FC236}">
                <a16:creationId xmlns:a16="http://schemas.microsoft.com/office/drawing/2014/main" id="{A799E5B2-0B2D-39B3-4EF3-791000ED15EA}"/>
              </a:ext>
            </a:extLst>
          </p:cNvPr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7">
            <a:extLst>
              <a:ext uri="{FF2B5EF4-FFF2-40B4-BE49-F238E27FC236}">
                <a16:creationId xmlns:a16="http://schemas.microsoft.com/office/drawing/2014/main" id="{E6D55207-65B6-A52A-9472-72A8CFFE0E42}"/>
              </a:ext>
            </a:extLst>
          </p:cNvPr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42">
            <a:extLst>
              <a:ext uri="{FF2B5EF4-FFF2-40B4-BE49-F238E27FC236}">
                <a16:creationId xmlns:a16="http://schemas.microsoft.com/office/drawing/2014/main" id="{42D0690C-2AF2-BE7D-797D-E5E680172F6E}"/>
              </a:ext>
            </a:extLst>
          </p:cNvPr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5A4A3A"/>
                </a:solidFill>
                <a:latin typeface="Lato"/>
              </a:rPr>
              <a:t>Kelecsényi Léna  · 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Spirituális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önismereti</a:t>
            </a:r>
            <a:r>
              <a:rPr sz="800" b="0" i="0" dirty="0">
                <a:solidFill>
                  <a:srgbClr val="5A4A3A"/>
                </a:solidFill>
                <a:latin typeface="Lato"/>
              </a:rPr>
              <a:t> </a:t>
            </a:r>
            <a:r>
              <a:rPr sz="800" b="0" i="0" dirty="0" err="1">
                <a:solidFill>
                  <a:srgbClr val="5A4A3A"/>
                </a:solidFill>
                <a:latin typeface="Lato"/>
              </a:rPr>
              <a:t>tanácsadás</a:t>
            </a:r>
            <a:endParaRPr sz="800" b="0" i="0" dirty="0">
              <a:solidFill>
                <a:srgbClr val="5A4A3A"/>
              </a:solidFill>
              <a:latin typeface="Lato"/>
            </a:endParaRPr>
          </a:p>
        </p:txBody>
      </p:sp>
      <p:cxnSp>
        <p:nvCxnSpPr>
          <p:cNvPr id="15" name="Connector 6">
            <a:extLst>
              <a:ext uri="{FF2B5EF4-FFF2-40B4-BE49-F238E27FC236}">
                <a16:creationId xmlns:a16="http://schemas.microsoft.com/office/drawing/2014/main" id="{CC9EDA4F-CABC-C177-FDE5-A555FC1CDE8C}"/>
              </a:ext>
            </a:extLst>
          </p:cNvPr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43">
            <a:extLst>
              <a:ext uri="{FF2B5EF4-FFF2-40B4-BE49-F238E27FC236}">
                <a16:creationId xmlns:a16="http://schemas.microsoft.com/office/drawing/2014/main" id="{A403C2AE-D9FB-C794-EC77-2A4298076A9B}"/>
              </a:ext>
            </a:extLst>
          </p:cNvPr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dirty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BDBFA9D-8A6F-9CFE-D5DB-2F52C1E45BC6}"/>
              </a:ext>
            </a:extLst>
          </p:cNvPr>
          <p:cNvSpPr txBox="1"/>
          <p:nvPr/>
        </p:nvSpPr>
        <p:spPr>
          <a:xfrm>
            <a:off x="649224" y="1517904"/>
            <a:ext cx="6263640" cy="451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hu-HU" sz="1100" b="0" i="1" dirty="0">
                <a:solidFill>
                  <a:srgbClr val="5A4A3A"/>
                </a:solidFill>
                <a:latin typeface="Merriweather"/>
              </a:rPr>
              <a:t>Szia, Léna vagyok</a:t>
            </a:r>
          </a:p>
          <a:p>
            <a:pPr algn="just">
              <a:lnSpc>
                <a:spcPct val="140000"/>
              </a:lnSpc>
            </a:pPr>
            <a:r>
              <a:rPr lang="hu-HU" sz="1100" i="1" dirty="0">
                <a:solidFill>
                  <a:srgbClr val="5A4A3A"/>
                </a:solidFill>
                <a:latin typeface="Merriweather"/>
              </a:rPr>
              <a:t>Szenvedélyem az asztrológia…..</a:t>
            </a:r>
            <a:endParaRPr lang="hu-HU" sz="1100" b="0" i="1" dirty="0">
              <a:solidFill>
                <a:srgbClr val="5A4A3A"/>
              </a:solidFill>
              <a:latin typeface="Merriweather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E7998A0-68D8-06F1-B6DC-B9C4985DE099}"/>
              </a:ext>
            </a:extLst>
          </p:cNvPr>
          <p:cNvSpPr txBox="1"/>
          <p:nvPr/>
        </p:nvSpPr>
        <p:spPr>
          <a:xfrm>
            <a:off x="2202095" y="3894667"/>
            <a:ext cx="3221905" cy="286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hu-HU" sz="1200" b="0" i="0" dirty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</p:spTree>
    <p:extLst>
      <p:ext uri="{BB962C8B-B14F-4D97-AF65-F5344CB8AC3E}">
        <p14:creationId xmlns:p14="http://schemas.microsoft.com/office/powerpoint/2010/main" val="313827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884</Words>
  <Application>Microsoft Office PowerPoint</Application>
  <PresentationFormat>Egyéni</PresentationFormat>
  <Paragraphs>125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Calibri</vt:lpstr>
      <vt:lpstr>Lato</vt:lpstr>
      <vt:lpstr>Merriweather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lena</dc:creator>
  <cp:keywords/>
  <dc:description>generated using python-pptx</dc:description>
  <cp:lastModifiedBy>Léna Kelecsényi</cp:lastModifiedBy>
  <cp:revision>10</cp:revision>
  <dcterms:created xsi:type="dcterms:W3CDTF">2013-01-27T09:14:16Z</dcterms:created>
  <dcterms:modified xsi:type="dcterms:W3CDTF">2026-06-20T18:02:10Z</dcterms:modified>
  <cp:category/>
</cp:coreProperties>
</file>